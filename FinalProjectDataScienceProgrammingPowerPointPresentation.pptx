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58" r:id="rId4"/>
    <p:sldId id="269" r:id="rId5"/>
    <p:sldId id="268" r:id="rId6"/>
    <p:sldId id="267" r:id="rId7"/>
    <p:sldId id="259"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mza Khalid" initials="HK" lastIdx="1" clrIdx="0">
    <p:extLst>
      <p:ext uri="{19B8F6BF-5375-455C-9EA6-DF929625EA0E}">
        <p15:presenceInfo xmlns:p15="http://schemas.microsoft.com/office/powerpoint/2012/main" userId="c569575680a8e13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E4BF9F-33A7-499D-9590-BDBCEF82548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04371F4-5DEE-4CD8-8B86-D245CD2C59E7}">
      <dgm:prSet phldrT="[Text]"/>
      <dgm:spPr/>
      <dgm:t>
        <a:bodyPr/>
        <a:lstStyle/>
        <a:p>
          <a:pPr>
            <a:buNone/>
          </a:pPr>
          <a:r>
            <a:rPr lang="en-US" b="1" dirty="0">
              <a:solidFill>
                <a:schemeClr val="tx1"/>
              </a:solidFill>
              <a:effectLst/>
              <a:latin typeface="Google Sans Text"/>
            </a:rPr>
            <a:t>Question</a:t>
          </a:r>
          <a:endParaRPr lang="en-US" dirty="0"/>
        </a:p>
      </dgm:t>
    </dgm:pt>
    <dgm:pt modelId="{C7848E38-247D-4F8E-83F8-9AD2E1636D9E}" type="parTrans" cxnId="{A822F992-5BF2-46AA-A656-9CD4C50CF3FE}">
      <dgm:prSet/>
      <dgm:spPr/>
      <dgm:t>
        <a:bodyPr/>
        <a:lstStyle/>
        <a:p>
          <a:endParaRPr lang="en-US"/>
        </a:p>
      </dgm:t>
    </dgm:pt>
    <dgm:pt modelId="{A3A13B44-4B3E-4EB5-8D35-5B04519FBD14}" type="sibTrans" cxnId="{A822F992-5BF2-46AA-A656-9CD4C50CF3FE}">
      <dgm:prSet/>
      <dgm:spPr/>
      <dgm:t>
        <a:bodyPr/>
        <a:lstStyle/>
        <a:p>
          <a:endParaRPr lang="en-US"/>
        </a:p>
      </dgm:t>
    </dgm:pt>
    <dgm:pt modelId="{2A0FF7BD-658A-4C3E-9C77-BC5D3CC68900}">
      <dgm:prSet phldrT="[Text]" phldr="0" custT="1"/>
      <dgm:spPr/>
      <dgm:t>
        <a:bodyPr/>
        <a:lstStyle/>
        <a:p>
          <a:r>
            <a:rPr lang="en-US" sz="1200" dirty="0"/>
            <a:t>H</a:t>
          </a:r>
          <a:r>
            <a:rPr lang="en-US" sz="1200" dirty="0">
              <a:solidFill>
                <a:schemeClr val="tx1"/>
              </a:solidFill>
              <a:effectLst/>
              <a:latin typeface="Google Sans Text"/>
            </a:rPr>
            <a:t>ow can we use our current inventory data to strategically price vehicles, prioritize high-value purchases, and maximize profit margins?</a:t>
          </a:r>
          <a:endParaRPr lang="en-US" sz="1200" dirty="0"/>
        </a:p>
      </dgm:t>
    </dgm:pt>
    <dgm:pt modelId="{3B13AA11-F6F5-4938-BDB0-92A07614D575}" type="parTrans" cxnId="{F101B1C3-FE20-4973-A262-A0D638D9CDA8}">
      <dgm:prSet/>
      <dgm:spPr/>
      <dgm:t>
        <a:bodyPr/>
        <a:lstStyle/>
        <a:p>
          <a:endParaRPr lang="en-US"/>
        </a:p>
      </dgm:t>
    </dgm:pt>
    <dgm:pt modelId="{6B883DAD-C72F-41FC-877F-A5356FC5737F}" type="sibTrans" cxnId="{F101B1C3-FE20-4973-A262-A0D638D9CDA8}">
      <dgm:prSet/>
      <dgm:spPr/>
      <dgm:t>
        <a:bodyPr/>
        <a:lstStyle/>
        <a:p>
          <a:endParaRPr lang="en-US"/>
        </a:p>
      </dgm:t>
    </dgm:pt>
    <dgm:pt modelId="{61AD2629-3B16-4D89-96A9-146EE9F9DC5F}">
      <dgm:prSet phldrT="[Text]"/>
      <dgm:spPr/>
      <dgm:t>
        <a:bodyPr/>
        <a:lstStyle/>
        <a:p>
          <a:pPr>
            <a:buNone/>
          </a:pPr>
          <a:r>
            <a:rPr lang="en-US" b="1" dirty="0">
              <a:solidFill>
                <a:schemeClr val="tx1"/>
              </a:solidFill>
              <a:effectLst/>
              <a:latin typeface="Google Sans Text"/>
            </a:rPr>
            <a:t>Purpose</a:t>
          </a:r>
          <a:endParaRPr lang="en-US" dirty="0"/>
        </a:p>
      </dgm:t>
    </dgm:pt>
    <dgm:pt modelId="{43E2E261-540C-45C4-BFCD-0C4A833B21DD}" type="parTrans" cxnId="{881EC480-E357-43DD-91B5-C3A58E80D8FF}">
      <dgm:prSet/>
      <dgm:spPr/>
      <dgm:t>
        <a:bodyPr/>
        <a:lstStyle/>
        <a:p>
          <a:endParaRPr lang="en-US"/>
        </a:p>
      </dgm:t>
    </dgm:pt>
    <dgm:pt modelId="{9524AF70-DEE2-4A86-A0B7-5D1385C12206}" type="sibTrans" cxnId="{881EC480-E357-43DD-91B5-C3A58E80D8FF}">
      <dgm:prSet/>
      <dgm:spPr/>
      <dgm:t>
        <a:bodyPr/>
        <a:lstStyle/>
        <a:p>
          <a:endParaRPr lang="en-US"/>
        </a:p>
      </dgm:t>
    </dgm:pt>
    <dgm:pt modelId="{2DD8D9C9-D669-4C63-BE45-F6E15030614E}">
      <dgm:prSet phldrT="[Text]"/>
      <dgm:spPr/>
      <dgm:t>
        <a:bodyPr/>
        <a:lstStyle/>
        <a:p>
          <a:pPr>
            <a:buFont typeface="Arial" panose="020B0604020202020204" pitchFamily="34" charset="0"/>
            <a:buChar char="•"/>
          </a:pPr>
          <a:r>
            <a:rPr lang="en-US" dirty="0">
              <a:solidFill>
                <a:schemeClr val="tx1"/>
              </a:solidFill>
              <a:effectLst/>
              <a:latin typeface="Google Sans Text"/>
            </a:rPr>
            <a:t>To provide dealership management with actionable, data-backed insights on which vehicle attributes (drive type, condition, mileage) are the strongest drivers of price and value.</a:t>
          </a:r>
          <a:endParaRPr lang="en-US" dirty="0"/>
        </a:p>
      </dgm:t>
    </dgm:pt>
    <dgm:pt modelId="{6485E6F0-FBCC-424C-B1FB-FD9259937449}" type="parTrans" cxnId="{F2831E11-C9CD-43BB-9FDE-C257789A8497}">
      <dgm:prSet/>
      <dgm:spPr/>
      <dgm:t>
        <a:bodyPr/>
        <a:lstStyle/>
        <a:p>
          <a:endParaRPr lang="en-US"/>
        </a:p>
      </dgm:t>
    </dgm:pt>
    <dgm:pt modelId="{9B2931A6-8AC9-4FDE-B1C5-4D713C3D33A7}" type="sibTrans" cxnId="{F2831E11-C9CD-43BB-9FDE-C257789A8497}">
      <dgm:prSet/>
      <dgm:spPr/>
      <dgm:t>
        <a:bodyPr/>
        <a:lstStyle/>
        <a:p>
          <a:endParaRPr lang="en-US"/>
        </a:p>
      </dgm:t>
    </dgm:pt>
    <dgm:pt modelId="{736D3DEB-1084-4049-9C28-C9D27647D57E}">
      <dgm:prSet phldrT="[Text]"/>
      <dgm:spPr/>
      <dgm:t>
        <a:bodyPr/>
        <a:lstStyle/>
        <a:p>
          <a:pPr>
            <a:buNone/>
          </a:pPr>
          <a:r>
            <a:rPr lang="en-US" b="1" dirty="0">
              <a:solidFill>
                <a:schemeClr val="tx1"/>
              </a:solidFill>
              <a:effectLst/>
              <a:latin typeface="Google Sans Text"/>
            </a:rPr>
            <a:t>Who Benefits?</a:t>
          </a:r>
          <a:endParaRPr lang="en-US" dirty="0"/>
        </a:p>
      </dgm:t>
    </dgm:pt>
    <dgm:pt modelId="{A7A9D3B6-375C-4733-8E5C-763E9A0DC417}" type="parTrans" cxnId="{45F39DD4-6E01-49F0-85C8-1C8681068B46}">
      <dgm:prSet/>
      <dgm:spPr/>
      <dgm:t>
        <a:bodyPr/>
        <a:lstStyle/>
        <a:p>
          <a:endParaRPr lang="en-US"/>
        </a:p>
      </dgm:t>
    </dgm:pt>
    <dgm:pt modelId="{E94FDAD2-CF15-46D8-8253-61EAC1FC9059}" type="sibTrans" cxnId="{45F39DD4-6E01-49F0-85C8-1C8681068B46}">
      <dgm:prSet/>
      <dgm:spPr/>
      <dgm:t>
        <a:bodyPr/>
        <a:lstStyle/>
        <a:p>
          <a:endParaRPr lang="en-US"/>
        </a:p>
      </dgm:t>
    </dgm:pt>
    <dgm:pt modelId="{9FFDCBC1-4A04-4F88-8E96-8978610E4BC6}">
      <dgm:prSet phldrT="[Text]"/>
      <dgm:spPr/>
      <dgm:t>
        <a:bodyPr/>
        <a:lstStyle/>
        <a:p>
          <a:pPr>
            <a:buFont typeface="Arial" panose="020B0604020202020204" pitchFamily="34" charset="0"/>
            <a:buChar char="•"/>
          </a:pPr>
          <a:r>
            <a:rPr lang="en-US" b="1" dirty="0">
              <a:solidFill>
                <a:schemeClr val="tx1"/>
              </a:solidFill>
              <a:effectLst/>
              <a:latin typeface="Google Sans Text"/>
            </a:rPr>
            <a:t>Dealerships: </a:t>
          </a:r>
          <a:r>
            <a:rPr lang="en-US" dirty="0">
              <a:solidFill>
                <a:schemeClr val="tx1"/>
              </a:solidFill>
              <a:effectLst/>
              <a:latin typeface="Google Sans Text"/>
            </a:rPr>
            <a:t>Better inventory purchasing and pricing decisions. </a:t>
          </a:r>
          <a:endParaRPr lang="en-US" dirty="0"/>
        </a:p>
      </dgm:t>
    </dgm:pt>
    <dgm:pt modelId="{4A8D84FC-1289-4A60-9415-1C7D9CF5B511}" type="parTrans" cxnId="{7071F150-4305-489C-8DC6-12CE17170A68}">
      <dgm:prSet/>
      <dgm:spPr/>
      <dgm:t>
        <a:bodyPr/>
        <a:lstStyle/>
        <a:p>
          <a:endParaRPr lang="en-US"/>
        </a:p>
      </dgm:t>
    </dgm:pt>
    <dgm:pt modelId="{6F735BB5-7C6F-43F6-81BE-089D190C7353}" type="sibTrans" cxnId="{7071F150-4305-489C-8DC6-12CE17170A68}">
      <dgm:prSet/>
      <dgm:spPr/>
      <dgm:t>
        <a:bodyPr/>
        <a:lstStyle/>
        <a:p>
          <a:endParaRPr lang="en-US"/>
        </a:p>
      </dgm:t>
    </dgm:pt>
    <dgm:pt modelId="{2BE68F8B-1211-4372-9011-5C50245D3CA5}">
      <dgm:prSet phldrT="[Text]"/>
      <dgm:spPr/>
      <dgm:t>
        <a:bodyPr/>
        <a:lstStyle/>
        <a:p>
          <a:pPr>
            <a:buFont typeface="Arial" panose="020B0604020202020204" pitchFamily="34" charset="0"/>
            <a:buChar char="•"/>
          </a:pPr>
          <a:r>
            <a:rPr lang="en-US" b="1" dirty="0">
              <a:solidFill>
                <a:schemeClr val="tx1"/>
              </a:solidFill>
              <a:effectLst/>
              <a:latin typeface="Google Sans Text"/>
            </a:rPr>
            <a:t>Sales Team:</a:t>
          </a:r>
          <a:r>
            <a:rPr lang="en-US" dirty="0">
              <a:solidFill>
                <a:schemeClr val="tx1"/>
              </a:solidFill>
              <a:effectLst/>
              <a:latin typeface="Google Sans Text"/>
            </a:rPr>
            <a:t> Targeted marketing and accurate valuation.</a:t>
          </a:r>
          <a:endParaRPr lang="en-US" dirty="0"/>
        </a:p>
      </dgm:t>
    </dgm:pt>
    <dgm:pt modelId="{11C8BF64-9BE3-4467-A3C8-96D4E9FF9570}" type="parTrans" cxnId="{9B978AC6-3A1F-434B-84E5-1B4C2A7F3027}">
      <dgm:prSet/>
      <dgm:spPr/>
      <dgm:t>
        <a:bodyPr/>
        <a:lstStyle/>
        <a:p>
          <a:endParaRPr lang="en-US"/>
        </a:p>
      </dgm:t>
    </dgm:pt>
    <dgm:pt modelId="{20CD75E3-AE7F-4690-9D3D-D7CB4427F844}" type="sibTrans" cxnId="{9B978AC6-3A1F-434B-84E5-1B4C2A7F3027}">
      <dgm:prSet/>
      <dgm:spPr/>
      <dgm:t>
        <a:bodyPr/>
        <a:lstStyle/>
        <a:p>
          <a:endParaRPr lang="en-US"/>
        </a:p>
      </dgm:t>
    </dgm:pt>
    <dgm:pt modelId="{CF0D3BBD-EE55-43D3-ABCA-97EEA3462D7B}">
      <dgm:prSet phldrT="[Text]"/>
      <dgm:spPr/>
      <dgm:t>
        <a:bodyPr/>
        <a:lstStyle/>
        <a:p>
          <a:pPr>
            <a:buFont typeface="Arial" panose="020B0604020202020204" pitchFamily="34" charset="0"/>
            <a:buChar char="•"/>
          </a:pPr>
          <a:r>
            <a:rPr lang="en-US" b="1" dirty="0">
              <a:solidFill>
                <a:schemeClr val="tx1"/>
              </a:solidFill>
              <a:effectLst/>
              <a:latin typeface="Google Sans Text"/>
            </a:rPr>
            <a:t>Finance/Accounting:</a:t>
          </a:r>
          <a:r>
            <a:rPr lang="en-US" dirty="0">
              <a:solidFill>
                <a:schemeClr val="tx1"/>
              </a:solidFill>
              <a:effectLst/>
              <a:latin typeface="Google Sans Text"/>
            </a:rPr>
            <a:t> Improved forecasting and profit realization.</a:t>
          </a:r>
          <a:endParaRPr lang="en-US" dirty="0"/>
        </a:p>
      </dgm:t>
    </dgm:pt>
    <dgm:pt modelId="{530B19CD-BF0C-476E-834D-A560E4B6B2D2}" type="parTrans" cxnId="{978DA237-99CC-4047-9629-66F9DC4E495B}">
      <dgm:prSet/>
      <dgm:spPr/>
      <dgm:t>
        <a:bodyPr/>
        <a:lstStyle/>
        <a:p>
          <a:endParaRPr lang="en-US"/>
        </a:p>
      </dgm:t>
    </dgm:pt>
    <dgm:pt modelId="{AF030F17-6AB1-426C-B8C0-BE075F61D7E9}" type="sibTrans" cxnId="{978DA237-99CC-4047-9629-66F9DC4E495B}">
      <dgm:prSet/>
      <dgm:spPr/>
      <dgm:t>
        <a:bodyPr/>
        <a:lstStyle/>
        <a:p>
          <a:endParaRPr lang="en-US"/>
        </a:p>
      </dgm:t>
    </dgm:pt>
    <dgm:pt modelId="{FDEBD791-2D28-4612-9985-593F11BB5A68}" type="pres">
      <dgm:prSet presAssocID="{9BE4BF9F-33A7-499D-9590-BDBCEF825481}" presName="Name0" presStyleCnt="0">
        <dgm:presLayoutVars>
          <dgm:dir/>
          <dgm:animLvl val="lvl"/>
          <dgm:resizeHandles val="exact"/>
        </dgm:presLayoutVars>
      </dgm:prSet>
      <dgm:spPr/>
    </dgm:pt>
    <dgm:pt modelId="{17225C3C-27CD-408F-9E50-F6C40F6C6BDA}" type="pres">
      <dgm:prSet presAssocID="{204371F4-5DEE-4CD8-8B86-D245CD2C59E7}" presName="linNode" presStyleCnt="0"/>
      <dgm:spPr/>
    </dgm:pt>
    <dgm:pt modelId="{7515CBCE-86FF-449A-8B02-3FAF0CFE3275}" type="pres">
      <dgm:prSet presAssocID="{204371F4-5DEE-4CD8-8B86-D245CD2C59E7}" presName="parentText" presStyleLbl="node1" presStyleIdx="0" presStyleCnt="3">
        <dgm:presLayoutVars>
          <dgm:chMax val="1"/>
          <dgm:bulletEnabled val="1"/>
        </dgm:presLayoutVars>
      </dgm:prSet>
      <dgm:spPr/>
    </dgm:pt>
    <dgm:pt modelId="{07D8BEAC-4E22-4F92-B1A0-A22BECA28169}" type="pres">
      <dgm:prSet presAssocID="{204371F4-5DEE-4CD8-8B86-D245CD2C59E7}" presName="descendantText" presStyleLbl="alignAccFollowNode1" presStyleIdx="0" presStyleCnt="3">
        <dgm:presLayoutVars>
          <dgm:bulletEnabled val="1"/>
        </dgm:presLayoutVars>
      </dgm:prSet>
      <dgm:spPr/>
    </dgm:pt>
    <dgm:pt modelId="{25296A92-DE06-4633-A79D-BB098241AB31}" type="pres">
      <dgm:prSet presAssocID="{A3A13B44-4B3E-4EB5-8D35-5B04519FBD14}" presName="sp" presStyleCnt="0"/>
      <dgm:spPr/>
    </dgm:pt>
    <dgm:pt modelId="{E7B932A5-0FA3-4272-8804-236B3EAF7741}" type="pres">
      <dgm:prSet presAssocID="{61AD2629-3B16-4D89-96A9-146EE9F9DC5F}" presName="linNode" presStyleCnt="0"/>
      <dgm:spPr/>
    </dgm:pt>
    <dgm:pt modelId="{DE57AD5B-448E-4DD7-B5A1-2F119D6567E2}" type="pres">
      <dgm:prSet presAssocID="{61AD2629-3B16-4D89-96A9-146EE9F9DC5F}" presName="parentText" presStyleLbl="node1" presStyleIdx="1" presStyleCnt="3">
        <dgm:presLayoutVars>
          <dgm:chMax val="1"/>
          <dgm:bulletEnabled val="1"/>
        </dgm:presLayoutVars>
      </dgm:prSet>
      <dgm:spPr/>
    </dgm:pt>
    <dgm:pt modelId="{39A1CA86-CA30-4367-85FD-2270BDEE82DB}" type="pres">
      <dgm:prSet presAssocID="{61AD2629-3B16-4D89-96A9-146EE9F9DC5F}" presName="descendantText" presStyleLbl="alignAccFollowNode1" presStyleIdx="1" presStyleCnt="3">
        <dgm:presLayoutVars>
          <dgm:bulletEnabled val="1"/>
        </dgm:presLayoutVars>
      </dgm:prSet>
      <dgm:spPr/>
    </dgm:pt>
    <dgm:pt modelId="{D3BAD4DC-8D4C-4D3E-A061-7E42F110F644}" type="pres">
      <dgm:prSet presAssocID="{9524AF70-DEE2-4A86-A0B7-5D1385C12206}" presName="sp" presStyleCnt="0"/>
      <dgm:spPr/>
    </dgm:pt>
    <dgm:pt modelId="{01406474-A565-4823-9383-C05D56B1D8EE}" type="pres">
      <dgm:prSet presAssocID="{736D3DEB-1084-4049-9C28-C9D27647D57E}" presName="linNode" presStyleCnt="0"/>
      <dgm:spPr/>
    </dgm:pt>
    <dgm:pt modelId="{CC6BC760-D540-4E18-8A65-9B9537FA25D8}" type="pres">
      <dgm:prSet presAssocID="{736D3DEB-1084-4049-9C28-C9D27647D57E}" presName="parentText" presStyleLbl="node1" presStyleIdx="2" presStyleCnt="3">
        <dgm:presLayoutVars>
          <dgm:chMax val="1"/>
          <dgm:bulletEnabled val="1"/>
        </dgm:presLayoutVars>
      </dgm:prSet>
      <dgm:spPr/>
    </dgm:pt>
    <dgm:pt modelId="{899F6CF7-D010-45C7-AB9A-1C1236F66280}" type="pres">
      <dgm:prSet presAssocID="{736D3DEB-1084-4049-9C28-C9D27647D57E}" presName="descendantText" presStyleLbl="alignAccFollowNode1" presStyleIdx="2" presStyleCnt="3">
        <dgm:presLayoutVars>
          <dgm:bulletEnabled val="1"/>
        </dgm:presLayoutVars>
      </dgm:prSet>
      <dgm:spPr/>
    </dgm:pt>
  </dgm:ptLst>
  <dgm:cxnLst>
    <dgm:cxn modelId="{F2831E11-C9CD-43BB-9FDE-C257789A8497}" srcId="{61AD2629-3B16-4D89-96A9-146EE9F9DC5F}" destId="{2DD8D9C9-D669-4C63-BE45-F6E15030614E}" srcOrd="0" destOrd="0" parTransId="{6485E6F0-FBCC-424C-B1FB-FD9259937449}" sibTransId="{9B2931A6-8AC9-4FDE-B1C5-4D713C3D33A7}"/>
    <dgm:cxn modelId="{F54D0D25-23A2-47C9-9CD9-9EC1BEAF04D3}" type="presOf" srcId="{61AD2629-3B16-4D89-96A9-146EE9F9DC5F}" destId="{DE57AD5B-448E-4DD7-B5A1-2F119D6567E2}" srcOrd="0" destOrd="0" presId="urn:microsoft.com/office/officeart/2005/8/layout/vList5"/>
    <dgm:cxn modelId="{978DA237-99CC-4047-9629-66F9DC4E495B}" srcId="{736D3DEB-1084-4049-9C28-C9D27647D57E}" destId="{CF0D3BBD-EE55-43D3-ABCA-97EEA3462D7B}" srcOrd="2" destOrd="0" parTransId="{530B19CD-BF0C-476E-834D-A560E4B6B2D2}" sibTransId="{AF030F17-6AB1-426C-B8C0-BE075F61D7E9}"/>
    <dgm:cxn modelId="{F4B8F43D-7204-4F9F-B03A-528C02CC8B2E}" type="presOf" srcId="{9FFDCBC1-4A04-4F88-8E96-8978610E4BC6}" destId="{899F6CF7-D010-45C7-AB9A-1C1236F66280}" srcOrd="0" destOrd="0" presId="urn:microsoft.com/office/officeart/2005/8/layout/vList5"/>
    <dgm:cxn modelId="{3D23A74B-C325-4DD0-94BD-26C1128D5921}" type="presOf" srcId="{736D3DEB-1084-4049-9C28-C9D27647D57E}" destId="{CC6BC760-D540-4E18-8A65-9B9537FA25D8}" srcOrd="0" destOrd="0" presId="urn:microsoft.com/office/officeart/2005/8/layout/vList5"/>
    <dgm:cxn modelId="{7071F150-4305-489C-8DC6-12CE17170A68}" srcId="{736D3DEB-1084-4049-9C28-C9D27647D57E}" destId="{9FFDCBC1-4A04-4F88-8E96-8978610E4BC6}" srcOrd="0" destOrd="0" parTransId="{4A8D84FC-1289-4A60-9415-1C7D9CF5B511}" sibTransId="{6F735BB5-7C6F-43F6-81BE-089D190C7353}"/>
    <dgm:cxn modelId="{2C95957D-682F-4AA4-B685-A4270E723E96}" type="presOf" srcId="{CF0D3BBD-EE55-43D3-ABCA-97EEA3462D7B}" destId="{899F6CF7-D010-45C7-AB9A-1C1236F66280}" srcOrd="0" destOrd="2" presId="urn:microsoft.com/office/officeart/2005/8/layout/vList5"/>
    <dgm:cxn modelId="{881EC480-E357-43DD-91B5-C3A58E80D8FF}" srcId="{9BE4BF9F-33A7-499D-9590-BDBCEF825481}" destId="{61AD2629-3B16-4D89-96A9-146EE9F9DC5F}" srcOrd="1" destOrd="0" parTransId="{43E2E261-540C-45C4-BFCD-0C4A833B21DD}" sibTransId="{9524AF70-DEE2-4A86-A0B7-5D1385C12206}"/>
    <dgm:cxn modelId="{A822F992-5BF2-46AA-A656-9CD4C50CF3FE}" srcId="{9BE4BF9F-33A7-499D-9590-BDBCEF825481}" destId="{204371F4-5DEE-4CD8-8B86-D245CD2C59E7}" srcOrd="0" destOrd="0" parTransId="{C7848E38-247D-4F8E-83F8-9AD2E1636D9E}" sibTransId="{A3A13B44-4B3E-4EB5-8D35-5B04519FBD14}"/>
    <dgm:cxn modelId="{3C2462A4-014C-4B4B-8CD3-45E24E3FD290}" type="presOf" srcId="{2BE68F8B-1211-4372-9011-5C50245D3CA5}" destId="{899F6CF7-D010-45C7-AB9A-1C1236F66280}" srcOrd="0" destOrd="1" presId="urn:microsoft.com/office/officeart/2005/8/layout/vList5"/>
    <dgm:cxn modelId="{33253FB6-401F-41C3-B798-D9B988BBD500}" type="presOf" srcId="{2A0FF7BD-658A-4C3E-9C77-BC5D3CC68900}" destId="{07D8BEAC-4E22-4F92-B1A0-A22BECA28169}" srcOrd="0" destOrd="0" presId="urn:microsoft.com/office/officeart/2005/8/layout/vList5"/>
    <dgm:cxn modelId="{1615C2B9-D8A4-46C9-A6C7-5A7EA7AFB4F3}" type="presOf" srcId="{2DD8D9C9-D669-4C63-BE45-F6E15030614E}" destId="{39A1CA86-CA30-4367-85FD-2270BDEE82DB}" srcOrd="0" destOrd="0" presId="urn:microsoft.com/office/officeart/2005/8/layout/vList5"/>
    <dgm:cxn modelId="{EAB22EBD-D1F3-4F5C-9CD7-AF2C8DAFD199}" type="presOf" srcId="{204371F4-5DEE-4CD8-8B86-D245CD2C59E7}" destId="{7515CBCE-86FF-449A-8B02-3FAF0CFE3275}" srcOrd="0" destOrd="0" presId="urn:microsoft.com/office/officeart/2005/8/layout/vList5"/>
    <dgm:cxn modelId="{F101B1C3-FE20-4973-A262-A0D638D9CDA8}" srcId="{204371F4-5DEE-4CD8-8B86-D245CD2C59E7}" destId="{2A0FF7BD-658A-4C3E-9C77-BC5D3CC68900}" srcOrd="0" destOrd="0" parTransId="{3B13AA11-F6F5-4938-BDB0-92A07614D575}" sibTransId="{6B883DAD-C72F-41FC-877F-A5356FC5737F}"/>
    <dgm:cxn modelId="{9B978AC6-3A1F-434B-84E5-1B4C2A7F3027}" srcId="{736D3DEB-1084-4049-9C28-C9D27647D57E}" destId="{2BE68F8B-1211-4372-9011-5C50245D3CA5}" srcOrd="1" destOrd="0" parTransId="{11C8BF64-9BE3-4467-A3C8-96D4E9FF9570}" sibTransId="{20CD75E3-AE7F-4690-9D3D-D7CB4427F844}"/>
    <dgm:cxn modelId="{45F39DD4-6E01-49F0-85C8-1C8681068B46}" srcId="{9BE4BF9F-33A7-499D-9590-BDBCEF825481}" destId="{736D3DEB-1084-4049-9C28-C9D27647D57E}" srcOrd="2" destOrd="0" parTransId="{A7A9D3B6-375C-4733-8E5C-763E9A0DC417}" sibTransId="{E94FDAD2-CF15-46D8-8253-61EAC1FC9059}"/>
    <dgm:cxn modelId="{B9EB61D7-F96A-4C89-8C36-BE188C8E2E66}" type="presOf" srcId="{9BE4BF9F-33A7-499D-9590-BDBCEF825481}" destId="{FDEBD791-2D28-4612-9985-593F11BB5A68}" srcOrd="0" destOrd="0" presId="urn:microsoft.com/office/officeart/2005/8/layout/vList5"/>
    <dgm:cxn modelId="{A33CB72A-4037-4D27-810D-6C77FBCB396F}" type="presParOf" srcId="{FDEBD791-2D28-4612-9985-593F11BB5A68}" destId="{17225C3C-27CD-408F-9E50-F6C40F6C6BDA}" srcOrd="0" destOrd="0" presId="urn:microsoft.com/office/officeart/2005/8/layout/vList5"/>
    <dgm:cxn modelId="{E1ED5B5A-5879-4C00-B64C-45FBE86BADA7}" type="presParOf" srcId="{17225C3C-27CD-408F-9E50-F6C40F6C6BDA}" destId="{7515CBCE-86FF-449A-8B02-3FAF0CFE3275}" srcOrd="0" destOrd="0" presId="urn:microsoft.com/office/officeart/2005/8/layout/vList5"/>
    <dgm:cxn modelId="{92ED5FDB-97B1-4FE5-876F-78200A4C4184}" type="presParOf" srcId="{17225C3C-27CD-408F-9E50-F6C40F6C6BDA}" destId="{07D8BEAC-4E22-4F92-B1A0-A22BECA28169}" srcOrd="1" destOrd="0" presId="urn:microsoft.com/office/officeart/2005/8/layout/vList5"/>
    <dgm:cxn modelId="{7276E885-376B-4EF9-BBE2-2EEFD0C8A81F}" type="presParOf" srcId="{FDEBD791-2D28-4612-9985-593F11BB5A68}" destId="{25296A92-DE06-4633-A79D-BB098241AB31}" srcOrd="1" destOrd="0" presId="urn:microsoft.com/office/officeart/2005/8/layout/vList5"/>
    <dgm:cxn modelId="{5B6AA7B4-4898-423B-82E3-AAD9F65A5821}" type="presParOf" srcId="{FDEBD791-2D28-4612-9985-593F11BB5A68}" destId="{E7B932A5-0FA3-4272-8804-236B3EAF7741}" srcOrd="2" destOrd="0" presId="urn:microsoft.com/office/officeart/2005/8/layout/vList5"/>
    <dgm:cxn modelId="{3DE14D99-94B3-4A9A-88C2-2AAC8F1EAA87}" type="presParOf" srcId="{E7B932A5-0FA3-4272-8804-236B3EAF7741}" destId="{DE57AD5B-448E-4DD7-B5A1-2F119D6567E2}" srcOrd="0" destOrd="0" presId="urn:microsoft.com/office/officeart/2005/8/layout/vList5"/>
    <dgm:cxn modelId="{C22A3D0E-8A2D-4517-9596-CC7DFA936275}" type="presParOf" srcId="{E7B932A5-0FA3-4272-8804-236B3EAF7741}" destId="{39A1CA86-CA30-4367-85FD-2270BDEE82DB}" srcOrd="1" destOrd="0" presId="urn:microsoft.com/office/officeart/2005/8/layout/vList5"/>
    <dgm:cxn modelId="{7ECD6AA7-E20F-4EAA-8F42-86E5B9C45E1D}" type="presParOf" srcId="{FDEBD791-2D28-4612-9985-593F11BB5A68}" destId="{D3BAD4DC-8D4C-4D3E-A061-7E42F110F644}" srcOrd="3" destOrd="0" presId="urn:microsoft.com/office/officeart/2005/8/layout/vList5"/>
    <dgm:cxn modelId="{DEE14B48-183D-482D-BDE5-7FE6EDF67FF4}" type="presParOf" srcId="{FDEBD791-2D28-4612-9985-593F11BB5A68}" destId="{01406474-A565-4823-9383-C05D56B1D8EE}" srcOrd="4" destOrd="0" presId="urn:microsoft.com/office/officeart/2005/8/layout/vList5"/>
    <dgm:cxn modelId="{CFDF7E08-F05F-45A0-A81F-F51241744555}" type="presParOf" srcId="{01406474-A565-4823-9383-C05D56B1D8EE}" destId="{CC6BC760-D540-4E18-8A65-9B9537FA25D8}" srcOrd="0" destOrd="0" presId="urn:microsoft.com/office/officeart/2005/8/layout/vList5"/>
    <dgm:cxn modelId="{A3832605-362A-4D96-909C-393FEFCB4AC1}" type="presParOf" srcId="{01406474-A565-4823-9383-C05D56B1D8EE}" destId="{899F6CF7-D010-45C7-AB9A-1C1236F6628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FE211C-F4B0-4073-AC37-B116F4A0A104}"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026B2B9B-EA92-478B-AC99-F5272203928E}">
      <dgm:prSet phldrT="[Text]"/>
      <dgm:spPr/>
      <dgm:t>
        <a:bodyPr/>
        <a:lstStyle/>
        <a:p>
          <a:pPr>
            <a:buNone/>
          </a:pPr>
          <a:r>
            <a:rPr lang="en-US" b="1" dirty="0">
              <a:solidFill>
                <a:srgbClr val="1F1F1F"/>
              </a:solidFill>
              <a:effectLst/>
              <a:latin typeface="Google Sans Text"/>
            </a:rPr>
            <a:t>Data Source</a:t>
          </a:r>
          <a:endParaRPr lang="en-US" dirty="0"/>
        </a:p>
      </dgm:t>
    </dgm:pt>
    <dgm:pt modelId="{D3AF476A-7254-4668-BA1F-FDF4F1A3538D}" type="parTrans" cxnId="{AA9CC3ED-2452-4B4B-B783-933BB35052C1}">
      <dgm:prSet/>
      <dgm:spPr/>
      <dgm:t>
        <a:bodyPr/>
        <a:lstStyle/>
        <a:p>
          <a:endParaRPr lang="en-US"/>
        </a:p>
      </dgm:t>
    </dgm:pt>
    <dgm:pt modelId="{CD64D528-2209-4704-ABB0-F0CE4F1B21E5}" type="sibTrans" cxnId="{AA9CC3ED-2452-4B4B-B783-933BB35052C1}">
      <dgm:prSet/>
      <dgm:spPr/>
      <dgm:t>
        <a:bodyPr/>
        <a:lstStyle/>
        <a:p>
          <a:endParaRPr lang="en-US"/>
        </a:p>
      </dgm:t>
    </dgm:pt>
    <dgm:pt modelId="{41BC1F36-476E-4F45-B8A3-917201D9307B}">
      <dgm:prSet phldrT="[Text]"/>
      <dgm:spPr/>
      <dgm:t>
        <a:bodyPr/>
        <a:lstStyle/>
        <a:p>
          <a:pPr>
            <a:buFont typeface="Arial" panose="020B0604020202020204" pitchFamily="34" charset="0"/>
            <a:buChar char="•"/>
          </a:pPr>
          <a:r>
            <a:rPr lang="en-US" dirty="0">
              <a:solidFill>
                <a:schemeClr val="tx1"/>
              </a:solidFill>
              <a:latin typeface="+mj-lt"/>
            </a:rPr>
            <a:t>auto-Inventory-.csv </a:t>
          </a:r>
          <a:r>
            <a:rPr lang="en-US" dirty="0">
              <a:solidFill>
                <a:schemeClr val="tx1"/>
              </a:solidFill>
              <a:effectLst/>
              <a:latin typeface="+mj-lt"/>
            </a:rPr>
            <a:t>(CSV File)</a:t>
          </a:r>
          <a:endParaRPr lang="en-US" dirty="0">
            <a:solidFill>
              <a:schemeClr val="tx1"/>
            </a:solidFill>
            <a:latin typeface="+mj-lt"/>
          </a:endParaRPr>
        </a:p>
      </dgm:t>
    </dgm:pt>
    <dgm:pt modelId="{72447273-43E7-4453-B019-D9B41D11BE85}" type="parTrans" cxnId="{24A8E072-ABA6-4357-A194-7ABCE83AA82D}">
      <dgm:prSet/>
      <dgm:spPr/>
      <dgm:t>
        <a:bodyPr/>
        <a:lstStyle/>
        <a:p>
          <a:endParaRPr lang="en-US"/>
        </a:p>
      </dgm:t>
    </dgm:pt>
    <dgm:pt modelId="{67006892-E0ED-49EB-8198-AF2ACF70D0A4}" type="sibTrans" cxnId="{24A8E072-ABA6-4357-A194-7ABCE83AA82D}">
      <dgm:prSet/>
      <dgm:spPr/>
      <dgm:t>
        <a:bodyPr/>
        <a:lstStyle/>
        <a:p>
          <a:endParaRPr lang="en-US"/>
        </a:p>
      </dgm:t>
    </dgm:pt>
    <dgm:pt modelId="{7121C1AD-CA9F-42B3-A33A-B52F5174C546}">
      <dgm:prSet phldrT="[Text]"/>
      <dgm:spPr/>
      <dgm:t>
        <a:bodyPr/>
        <a:lstStyle/>
        <a:p>
          <a:pPr>
            <a:buNone/>
          </a:pPr>
          <a:r>
            <a:rPr lang="en-US" b="1" dirty="0">
              <a:solidFill>
                <a:srgbClr val="1F1F1F"/>
              </a:solidFill>
              <a:effectLst/>
              <a:latin typeface="Google Sans Text"/>
            </a:rPr>
            <a:t>Key Features</a:t>
          </a:r>
          <a:endParaRPr lang="en-US" dirty="0"/>
        </a:p>
      </dgm:t>
    </dgm:pt>
    <dgm:pt modelId="{80D01B5E-A7DD-4A9E-8C7D-2DA4702358F2}" type="parTrans" cxnId="{FBFC69D0-3A55-45F2-9350-E17EE2E63CC9}">
      <dgm:prSet/>
      <dgm:spPr/>
      <dgm:t>
        <a:bodyPr/>
        <a:lstStyle/>
        <a:p>
          <a:endParaRPr lang="en-US"/>
        </a:p>
      </dgm:t>
    </dgm:pt>
    <dgm:pt modelId="{A3F87CA1-06D4-46D7-BCA5-59D37283819C}" type="sibTrans" cxnId="{FBFC69D0-3A55-45F2-9350-E17EE2E63CC9}">
      <dgm:prSet/>
      <dgm:spPr/>
      <dgm:t>
        <a:bodyPr/>
        <a:lstStyle/>
        <a:p>
          <a:endParaRPr lang="en-US"/>
        </a:p>
      </dgm:t>
    </dgm:pt>
    <dgm:pt modelId="{F482DAB9-C799-4501-82C1-FE3FD046A459}">
      <dgm:prSet phldrT="[Text]"/>
      <dgm:spPr/>
      <dgm:t>
        <a:bodyPr/>
        <a:lstStyle/>
        <a:p>
          <a:pPr>
            <a:buFont typeface="Arial" panose="020B0604020202020204" pitchFamily="34" charset="0"/>
            <a:buChar char="•"/>
          </a:pPr>
          <a:r>
            <a:rPr lang="en-US" dirty="0">
              <a:solidFill>
                <a:srgbClr val="1F1F1F"/>
              </a:solidFill>
              <a:effectLst/>
              <a:latin typeface="Google Sans Text"/>
            </a:rPr>
            <a:t>Price, Mileage, Model Year, Drive Type, Condition (New/Used/Certified) </a:t>
          </a:r>
          <a:endParaRPr lang="en-US" dirty="0"/>
        </a:p>
      </dgm:t>
    </dgm:pt>
    <dgm:pt modelId="{7687E8E6-8540-4E57-AFDE-A1C4AD13AB1B}" type="parTrans" cxnId="{9F6E2645-1BC9-467A-9F8A-AC5B3BAE2F6E}">
      <dgm:prSet/>
      <dgm:spPr/>
      <dgm:t>
        <a:bodyPr/>
        <a:lstStyle/>
        <a:p>
          <a:endParaRPr lang="en-US"/>
        </a:p>
      </dgm:t>
    </dgm:pt>
    <dgm:pt modelId="{D88E15AF-8394-4682-ADCA-54FAEC1DDB39}" type="sibTrans" cxnId="{9F6E2645-1BC9-467A-9F8A-AC5B3BAE2F6E}">
      <dgm:prSet/>
      <dgm:spPr/>
      <dgm:t>
        <a:bodyPr/>
        <a:lstStyle/>
        <a:p>
          <a:endParaRPr lang="en-US"/>
        </a:p>
      </dgm:t>
    </dgm:pt>
    <dgm:pt modelId="{DA60F946-43BB-40A6-9363-F486814977D3}">
      <dgm:prSet phldrT="[Text]"/>
      <dgm:spPr/>
      <dgm:t>
        <a:bodyPr/>
        <a:lstStyle/>
        <a:p>
          <a:pPr>
            <a:buNone/>
          </a:pPr>
          <a:r>
            <a:rPr lang="en-US" b="1" dirty="0">
              <a:solidFill>
                <a:srgbClr val="1F1F1F"/>
              </a:solidFill>
              <a:effectLst/>
              <a:latin typeface="Google Sans Text"/>
            </a:rPr>
            <a:t>Tools Used</a:t>
          </a:r>
          <a:endParaRPr lang="en-US" dirty="0"/>
        </a:p>
      </dgm:t>
    </dgm:pt>
    <dgm:pt modelId="{0395E704-DBF3-4BDA-8207-92DD7CD827AD}" type="parTrans" cxnId="{28E65F8C-3251-46CF-B891-A1B5F6B8DD83}">
      <dgm:prSet/>
      <dgm:spPr/>
      <dgm:t>
        <a:bodyPr/>
        <a:lstStyle/>
        <a:p>
          <a:endParaRPr lang="en-US"/>
        </a:p>
      </dgm:t>
    </dgm:pt>
    <dgm:pt modelId="{A706F1F7-0DC1-4D45-887E-CDF885D25FAD}" type="sibTrans" cxnId="{28E65F8C-3251-46CF-B891-A1B5F6B8DD83}">
      <dgm:prSet/>
      <dgm:spPr/>
      <dgm:t>
        <a:bodyPr/>
        <a:lstStyle/>
        <a:p>
          <a:endParaRPr lang="en-US"/>
        </a:p>
      </dgm:t>
    </dgm:pt>
    <dgm:pt modelId="{86282BA2-8301-43E7-B0F8-73187CDA8EF3}">
      <dgm:prSet phldrT="[Text]" custT="1"/>
      <dgm:spPr/>
      <dgm:t>
        <a:bodyPr/>
        <a:lstStyle/>
        <a:p>
          <a:pPr>
            <a:buFont typeface="Arial" panose="020B0604020202020204" pitchFamily="34" charset="0"/>
            <a:buChar char="•"/>
          </a:pPr>
          <a:r>
            <a:rPr lang="en-US" sz="1200" b="1" dirty="0">
              <a:solidFill>
                <a:srgbClr val="1F1F1F"/>
              </a:solidFill>
              <a:effectLst/>
              <a:latin typeface="Google Sans Text"/>
            </a:rPr>
            <a:t>Python:</a:t>
          </a:r>
          <a:r>
            <a:rPr lang="en-US" sz="1200" dirty="0">
              <a:solidFill>
                <a:srgbClr val="1F1F1F"/>
              </a:solidFill>
              <a:effectLst/>
              <a:latin typeface="Google Sans Text"/>
            </a:rPr>
            <a:t> The core language for analysis. </a:t>
          </a:r>
          <a:endParaRPr lang="en-US" sz="1200" dirty="0"/>
        </a:p>
      </dgm:t>
    </dgm:pt>
    <dgm:pt modelId="{2ADE952D-9C31-4A0F-BC58-BDF859EF16FB}" type="parTrans" cxnId="{11C86D14-C829-4C41-9527-2FDC3008885C}">
      <dgm:prSet/>
      <dgm:spPr/>
      <dgm:t>
        <a:bodyPr/>
        <a:lstStyle/>
        <a:p>
          <a:endParaRPr lang="en-US"/>
        </a:p>
      </dgm:t>
    </dgm:pt>
    <dgm:pt modelId="{F4F6D31D-1C62-4D9A-AD77-DFA5CAF8ADDA}" type="sibTrans" cxnId="{11C86D14-C829-4C41-9527-2FDC3008885C}">
      <dgm:prSet/>
      <dgm:spPr/>
      <dgm:t>
        <a:bodyPr/>
        <a:lstStyle/>
        <a:p>
          <a:endParaRPr lang="en-US"/>
        </a:p>
      </dgm:t>
    </dgm:pt>
    <dgm:pt modelId="{B715AEE0-26C8-42EA-84A2-3269F1543C85}">
      <dgm:prSet/>
      <dgm:spPr/>
      <dgm:t>
        <a:bodyPr/>
        <a:lstStyle/>
        <a:p>
          <a:pPr>
            <a:buNone/>
          </a:pPr>
          <a:r>
            <a:rPr lang="en-US" b="1">
              <a:solidFill>
                <a:srgbClr val="1F1F1F"/>
              </a:solidFill>
              <a:effectLst/>
              <a:latin typeface="Google Sans Text"/>
            </a:rPr>
            <a:t>Unit of Analysis</a:t>
          </a:r>
          <a:endParaRPr lang="en-US" dirty="0">
            <a:solidFill>
              <a:srgbClr val="1F1F1F"/>
            </a:solidFill>
            <a:effectLst/>
            <a:latin typeface="Google Sans Text"/>
          </a:endParaRPr>
        </a:p>
      </dgm:t>
    </dgm:pt>
    <dgm:pt modelId="{B3BF9819-6AC1-4C3F-AC8C-8BA2F3954147}" type="parTrans" cxnId="{3376A88B-B245-46E5-ABBF-7F77C447AFD7}">
      <dgm:prSet/>
      <dgm:spPr/>
      <dgm:t>
        <a:bodyPr/>
        <a:lstStyle/>
        <a:p>
          <a:endParaRPr lang="en-US"/>
        </a:p>
      </dgm:t>
    </dgm:pt>
    <dgm:pt modelId="{EC9CF5E6-B19C-4B1A-8908-038E52DF39CE}" type="sibTrans" cxnId="{3376A88B-B245-46E5-ABBF-7F77C447AFD7}">
      <dgm:prSet/>
      <dgm:spPr/>
      <dgm:t>
        <a:bodyPr/>
        <a:lstStyle/>
        <a:p>
          <a:endParaRPr lang="en-US"/>
        </a:p>
      </dgm:t>
    </dgm:pt>
    <dgm:pt modelId="{5014B590-8837-4ED8-98AA-53032DAC9B25}">
      <dgm:prSet phldrT="[Text]"/>
      <dgm:spPr/>
      <dgm:t>
        <a:bodyPr/>
        <a:lstStyle/>
        <a:p>
          <a:pPr>
            <a:buFont typeface="Arial" panose="020B0604020202020204" pitchFamily="34" charset="0"/>
            <a:buChar char="•"/>
          </a:pPr>
          <a:r>
            <a:rPr lang="en-US" dirty="0">
              <a:solidFill>
                <a:schemeClr val="tx1"/>
              </a:solidFill>
              <a:effectLst/>
              <a:latin typeface="+mj-lt"/>
            </a:rPr>
            <a:t>auto_inventory_cleaned.csv (cleaned CSV File)</a:t>
          </a:r>
          <a:endParaRPr lang="en-US" dirty="0">
            <a:solidFill>
              <a:schemeClr val="tx1"/>
            </a:solidFill>
            <a:latin typeface="+mj-lt"/>
          </a:endParaRPr>
        </a:p>
      </dgm:t>
    </dgm:pt>
    <dgm:pt modelId="{465D7257-3CD8-48E4-B8A0-C26ACCB0E93A}" type="parTrans" cxnId="{E798F2CB-9191-4E7D-AA18-A5BB5979B4FE}">
      <dgm:prSet/>
      <dgm:spPr/>
      <dgm:t>
        <a:bodyPr/>
        <a:lstStyle/>
        <a:p>
          <a:endParaRPr lang="en-US"/>
        </a:p>
      </dgm:t>
    </dgm:pt>
    <dgm:pt modelId="{BAB555E8-DAC9-4B7A-86A6-ECB4C1DB8546}" type="sibTrans" cxnId="{E798F2CB-9191-4E7D-AA18-A5BB5979B4FE}">
      <dgm:prSet/>
      <dgm:spPr/>
      <dgm:t>
        <a:bodyPr/>
        <a:lstStyle/>
        <a:p>
          <a:endParaRPr lang="en-US"/>
        </a:p>
      </dgm:t>
    </dgm:pt>
    <dgm:pt modelId="{76A7C656-3083-4DD6-9AF9-979852DAC655}">
      <dgm:prSet/>
      <dgm:spPr/>
      <dgm:t>
        <a:bodyPr/>
        <a:lstStyle/>
        <a:p>
          <a:pPr>
            <a:buFont typeface="Arial" panose="020B0604020202020204" pitchFamily="34" charset="0"/>
            <a:buChar char="•"/>
          </a:pPr>
          <a:r>
            <a:rPr lang="en-US" b="0">
              <a:solidFill>
                <a:srgbClr val="1F1F1F"/>
              </a:solidFill>
              <a:effectLst/>
              <a:latin typeface="Google Sans Text"/>
            </a:rPr>
            <a:t>Each individual vehicle (a single row in the dataset).</a:t>
          </a:r>
          <a:endParaRPr lang="en-US" b="0"/>
        </a:p>
      </dgm:t>
    </dgm:pt>
    <dgm:pt modelId="{E7565EE2-36F5-4D20-ACAB-F21A8895A2DF}" type="parTrans" cxnId="{64109807-45F8-495C-ACD4-2C596C69B04F}">
      <dgm:prSet/>
      <dgm:spPr/>
      <dgm:t>
        <a:bodyPr/>
        <a:lstStyle/>
        <a:p>
          <a:endParaRPr lang="en-US"/>
        </a:p>
      </dgm:t>
    </dgm:pt>
    <dgm:pt modelId="{DE1999BA-EBF8-48DB-B724-3D9E8FA20A8D}" type="sibTrans" cxnId="{64109807-45F8-495C-ACD4-2C596C69B04F}">
      <dgm:prSet/>
      <dgm:spPr/>
      <dgm:t>
        <a:bodyPr/>
        <a:lstStyle/>
        <a:p>
          <a:endParaRPr lang="en-US"/>
        </a:p>
      </dgm:t>
    </dgm:pt>
    <dgm:pt modelId="{2093B096-92C0-4456-A915-B450C2B7E25A}">
      <dgm:prSet phldrT="[Text]"/>
      <dgm:spPr/>
      <dgm:t>
        <a:bodyPr/>
        <a:lstStyle/>
        <a:p>
          <a:pPr>
            <a:buFont typeface="Arial" panose="020B0604020202020204" pitchFamily="34" charset="0"/>
            <a:buChar char="•"/>
          </a:pPr>
          <a:r>
            <a:rPr lang="en-US" dirty="0">
              <a:solidFill>
                <a:srgbClr val="1F1F1F"/>
              </a:solidFill>
              <a:effectLst/>
              <a:latin typeface="Google Sans Text"/>
            </a:rPr>
            <a:t>Condition Report </a:t>
          </a:r>
          <a:endParaRPr lang="en-US" dirty="0"/>
        </a:p>
      </dgm:t>
    </dgm:pt>
    <dgm:pt modelId="{E553BB43-C94F-4979-90FE-DDE704F287C4}" type="parTrans" cxnId="{6AC3A874-30A1-471D-ADC0-0B012DC701A2}">
      <dgm:prSet/>
      <dgm:spPr/>
      <dgm:t>
        <a:bodyPr/>
        <a:lstStyle/>
        <a:p>
          <a:endParaRPr lang="en-US"/>
        </a:p>
      </dgm:t>
    </dgm:pt>
    <dgm:pt modelId="{24FAFC06-F633-4AEC-89F1-3E2B52F209AF}" type="sibTrans" cxnId="{6AC3A874-30A1-471D-ADC0-0B012DC701A2}">
      <dgm:prSet/>
      <dgm:spPr/>
      <dgm:t>
        <a:bodyPr/>
        <a:lstStyle/>
        <a:p>
          <a:endParaRPr lang="en-US"/>
        </a:p>
      </dgm:t>
    </dgm:pt>
    <dgm:pt modelId="{1705F1FD-4026-4BE1-A385-BC8706478E32}">
      <dgm:prSet phldrT="[Text]" custT="1"/>
      <dgm:spPr/>
      <dgm:t>
        <a:bodyPr/>
        <a:lstStyle/>
        <a:p>
          <a:pPr>
            <a:buFont typeface="Arial" panose="020B0604020202020204" pitchFamily="34" charset="0"/>
            <a:buChar char="•"/>
          </a:pPr>
          <a:r>
            <a:rPr lang="en-US" sz="1200" b="1" dirty="0" err="1">
              <a:solidFill>
                <a:srgbClr val="1F1F1F"/>
              </a:solidFill>
              <a:effectLst/>
              <a:latin typeface="Google Sans Text"/>
            </a:rPr>
            <a:t>Jupyter</a:t>
          </a:r>
          <a:r>
            <a:rPr lang="en-US" sz="1200" b="1" dirty="0">
              <a:solidFill>
                <a:srgbClr val="1F1F1F"/>
              </a:solidFill>
              <a:effectLst/>
              <a:latin typeface="Google Sans Text"/>
            </a:rPr>
            <a:t> Notebooks:</a:t>
          </a:r>
          <a:r>
            <a:rPr lang="en-US" sz="1200" dirty="0">
              <a:solidFill>
                <a:srgbClr val="1F1F1F"/>
              </a:solidFill>
              <a:effectLst/>
              <a:latin typeface="Google Sans Text"/>
            </a:rPr>
            <a:t> Environment for executing and documenting code. </a:t>
          </a:r>
          <a:endParaRPr lang="en-US" sz="1200" dirty="0"/>
        </a:p>
      </dgm:t>
    </dgm:pt>
    <dgm:pt modelId="{D68D2470-A0F4-4AAF-914B-1DFCD6B97C79}" type="parTrans" cxnId="{422EE95A-9781-4BC7-8916-F9578DABFF83}">
      <dgm:prSet/>
      <dgm:spPr/>
      <dgm:t>
        <a:bodyPr/>
        <a:lstStyle/>
        <a:p>
          <a:endParaRPr lang="en-US"/>
        </a:p>
      </dgm:t>
    </dgm:pt>
    <dgm:pt modelId="{79E72194-5AD2-458B-AB78-B1B66C702902}" type="sibTrans" cxnId="{422EE95A-9781-4BC7-8916-F9578DABFF83}">
      <dgm:prSet/>
      <dgm:spPr/>
      <dgm:t>
        <a:bodyPr/>
        <a:lstStyle/>
        <a:p>
          <a:endParaRPr lang="en-US"/>
        </a:p>
      </dgm:t>
    </dgm:pt>
    <dgm:pt modelId="{11602159-1DAF-4B88-963F-566602C149FE}">
      <dgm:prSet phldrT="[Text]" custT="1"/>
      <dgm:spPr/>
      <dgm:t>
        <a:bodyPr/>
        <a:lstStyle/>
        <a:p>
          <a:pPr>
            <a:buFont typeface="Arial" panose="020B0604020202020204" pitchFamily="34" charset="0"/>
            <a:buChar char="•"/>
          </a:pPr>
          <a:r>
            <a:rPr lang="en-US" sz="1200" dirty="0">
              <a:solidFill>
                <a:srgbClr val="1F1F1F"/>
              </a:solidFill>
              <a:effectLst/>
              <a:latin typeface="Google Sans Text"/>
            </a:rPr>
            <a:t> </a:t>
          </a:r>
          <a:r>
            <a:rPr lang="en-US" sz="1200" b="1" dirty="0">
              <a:solidFill>
                <a:srgbClr val="444746"/>
              </a:solidFill>
              <a:effectLst/>
              <a:latin typeface="Google Sans Text"/>
            </a:rPr>
            <a:t>pandas</a:t>
          </a:r>
          <a:r>
            <a:rPr lang="en-US" sz="1200" b="1" dirty="0">
              <a:solidFill>
                <a:srgbClr val="1F1F1F"/>
              </a:solidFill>
              <a:effectLst/>
              <a:latin typeface="Google Sans Text"/>
            </a:rPr>
            <a:t>:</a:t>
          </a:r>
          <a:r>
            <a:rPr lang="en-US" sz="1200" dirty="0">
              <a:solidFill>
                <a:srgbClr val="1F1F1F"/>
              </a:solidFill>
              <a:effectLst/>
              <a:latin typeface="Google Sans Text"/>
            </a:rPr>
            <a:t> Data manipulation and cleaning.</a:t>
          </a:r>
          <a:endParaRPr lang="en-US" sz="1200" dirty="0"/>
        </a:p>
      </dgm:t>
    </dgm:pt>
    <dgm:pt modelId="{237C9D5A-A3B8-42D1-A140-3EF06D668115}" type="parTrans" cxnId="{C73D5F1D-268D-4972-A78F-C08403D908EF}">
      <dgm:prSet/>
      <dgm:spPr/>
      <dgm:t>
        <a:bodyPr/>
        <a:lstStyle/>
        <a:p>
          <a:endParaRPr lang="en-US"/>
        </a:p>
      </dgm:t>
    </dgm:pt>
    <dgm:pt modelId="{7696C5BB-2DA9-40CE-8E41-92AEE7B1060C}" type="sibTrans" cxnId="{C73D5F1D-268D-4972-A78F-C08403D908EF}">
      <dgm:prSet/>
      <dgm:spPr/>
      <dgm:t>
        <a:bodyPr/>
        <a:lstStyle/>
        <a:p>
          <a:endParaRPr lang="en-US"/>
        </a:p>
      </dgm:t>
    </dgm:pt>
    <dgm:pt modelId="{C7951F05-61E3-4F12-9AFF-2D5C68D51D3B}">
      <dgm:prSet phldrT="[Text]" custT="1"/>
      <dgm:spPr/>
      <dgm:t>
        <a:bodyPr/>
        <a:lstStyle/>
        <a:p>
          <a:pPr>
            <a:buFont typeface="Arial" panose="020B0604020202020204" pitchFamily="34" charset="0"/>
            <a:buChar char="•"/>
          </a:pPr>
          <a:r>
            <a:rPr lang="en-US" sz="1200" dirty="0">
              <a:solidFill>
                <a:srgbClr val="1F1F1F"/>
              </a:solidFill>
              <a:effectLst/>
              <a:latin typeface="Google Sans Text"/>
            </a:rPr>
            <a:t> </a:t>
          </a:r>
          <a:r>
            <a:rPr lang="en-US" sz="1200" b="1" dirty="0">
              <a:solidFill>
                <a:srgbClr val="444746"/>
              </a:solidFill>
              <a:effectLst/>
              <a:latin typeface="Google Sans Text"/>
            </a:rPr>
            <a:t>matplotlib</a:t>
          </a:r>
          <a:r>
            <a:rPr lang="en-US" sz="1200" b="1" dirty="0">
              <a:solidFill>
                <a:srgbClr val="1F1F1F"/>
              </a:solidFill>
              <a:effectLst/>
              <a:latin typeface="Google Sans Text"/>
            </a:rPr>
            <a:t> &amp; </a:t>
          </a:r>
          <a:r>
            <a:rPr lang="en-US" sz="1200" b="1" dirty="0">
              <a:solidFill>
                <a:srgbClr val="444746"/>
              </a:solidFill>
              <a:effectLst/>
              <a:latin typeface="Google Sans Text"/>
            </a:rPr>
            <a:t>seaborn</a:t>
          </a:r>
          <a:r>
            <a:rPr lang="en-US" sz="1200" b="1" dirty="0">
              <a:solidFill>
                <a:srgbClr val="1F1F1F"/>
              </a:solidFill>
              <a:effectLst/>
              <a:latin typeface="Google Sans Text"/>
            </a:rPr>
            <a:t>:</a:t>
          </a:r>
          <a:r>
            <a:rPr lang="en-US" sz="1200" dirty="0">
              <a:solidFill>
                <a:srgbClr val="1F1F1F"/>
              </a:solidFill>
              <a:effectLst/>
              <a:latin typeface="Google Sans Text"/>
            </a:rPr>
            <a:t> Visualization and statistical graphing.</a:t>
          </a:r>
          <a:endParaRPr lang="en-US" sz="1200" dirty="0"/>
        </a:p>
      </dgm:t>
    </dgm:pt>
    <dgm:pt modelId="{0D9A55B6-CC9F-4DCB-A8AE-096DC7C2168E}" type="parTrans" cxnId="{58BADDAC-D30A-4547-8FC5-4B28D18089A5}">
      <dgm:prSet/>
      <dgm:spPr/>
      <dgm:t>
        <a:bodyPr/>
        <a:lstStyle/>
        <a:p>
          <a:endParaRPr lang="en-US"/>
        </a:p>
      </dgm:t>
    </dgm:pt>
    <dgm:pt modelId="{7F2D2B1D-AD4B-4894-B6CE-91242101F54C}" type="sibTrans" cxnId="{58BADDAC-D30A-4547-8FC5-4B28D18089A5}">
      <dgm:prSet/>
      <dgm:spPr/>
      <dgm:t>
        <a:bodyPr/>
        <a:lstStyle/>
        <a:p>
          <a:endParaRPr lang="en-US"/>
        </a:p>
      </dgm:t>
    </dgm:pt>
    <dgm:pt modelId="{88D63075-0525-44A5-9EBE-98A6E3B8D4E4}" type="pres">
      <dgm:prSet presAssocID="{B7FE211C-F4B0-4073-AC37-B116F4A0A104}" presName="linearFlow" presStyleCnt="0">
        <dgm:presLayoutVars>
          <dgm:dir/>
          <dgm:animLvl val="lvl"/>
          <dgm:resizeHandles val="exact"/>
        </dgm:presLayoutVars>
      </dgm:prSet>
      <dgm:spPr/>
    </dgm:pt>
    <dgm:pt modelId="{C69B9F62-5AD7-4568-8034-0689E43F4BBE}" type="pres">
      <dgm:prSet presAssocID="{026B2B9B-EA92-478B-AC99-F5272203928E}" presName="composite" presStyleCnt="0"/>
      <dgm:spPr/>
    </dgm:pt>
    <dgm:pt modelId="{AF465DDB-F27F-4A8E-958A-9770DBD748A1}" type="pres">
      <dgm:prSet presAssocID="{026B2B9B-EA92-478B-AC99-F5272203928E}" presName="parentText" presStyleLbl="alignNode1" presStyleIdx="0" presStyleCnt="4" custScaleY="100098">
        <dgm:presLayoutVars>
          <dgm:chMax val="1"/>
          <dgm:bulletEnabled val="1"/>
        </dgm:presLayoutVars>
      </dgm:prSet>
      <dgm:spPr/>
    </dgm:pt>
    <dgm:pt modelId="{7D3B61C3-9F89-4ECD-A891-CEE09ACA6609}" type="pres">
      <dgm:prSet presAssocID="{026B2B9B-EA92-478B-AC99-F5272203928E}" presName="descendantText" presStyleLbl="alignAcc1" presStyleIdx="0" presStyleCnt="4">
        <dgm:presLayoutVars>
          <dgm:bulletEnabled val="1"/>
        </dgm:presLayoutVars>
      </dgm:prSet>
      <dgm:spPr/>
    </dgm:pt>
    <dgm:pt modelId="{7DF6AE76-A39A-4654-8A39-D2698CED12C1}" type="pres">
      <dgm:prSet presAssocID="{CD64D528-2209-4704-ABB0-F0CE4F1B21E5}" presName="sp" presStyleCnt="0"/>
      <dgm:spPr/>
    </dgm:pt>
    <dgm:pt modelId="{14444236-C834-4D1A-9EE1-40A35FA54F2C}" type="pres">
      <dgm:prSet presAssocID="{B715AEE0-26C8-42EA-84A2-3269F1543C85}" presName="composite" presStyleCnt="0"/>
      <dgm:spPr/>
    </dgm:pt>
    <dgm:pt modelId="{5AA583BF-E5A4-4758-A291-1B46A52D8958}" type="pres">
      <dgm:prSet presAssocID="{B715AEE0-26C8-42EA-84A2-3269F1543C85}" presName="parentText" presStyleLbl="alignNode1" presStyleIdx="1" presStyleCnt="4">
        <dgm:presLayoutVars>
          <dgm:chMax val="1"/>
          <dgm:bulletEnabled val="1"/>
        </dgm:presLayoutVars>
      </dgm:prSet>
      <dgm:spPr/>
    </dgm:pt>
    <dgm:pt modelId="{B4A2ABA5-313E-41BF-A03D-A0A659FBF583}" type="pres">
      <dgm:prSet presAssocID="{B715AEE0-26C8-42EA-84A2-3269F1543C85}" presName="descendantText" presStyleLbl="alignAcc1" presStyleIdx="1" presStyleCnt="4">
        <dgm:presLayoutVars>
          <dgm:bulletEnabled val="1"/>
        </dgm:presLayoutVars>
      </dgm:prSet>
      <dgm:spPr/>
    </dgm:pt>
    <dgm:pt modelId="{36F19F0A-E436-47DB-87D2-F6C3B6A2C9C6}" type="pres">
      <dgm:prSet presAssocID="{EC9CF5E6-B19C-4B1A-8908-038E52DF39CE}" presName="sp" presStyleCnt="0"/>
      <dgm:spPr/>
    </dgm:pt>
    <dgm:pt modelId="{F32C5886-CDAE-4BCF-A928-181364D14070}" type="pres">
      <dgm:prSet presAssocID="{7121C1AD-CA9F-42B3-A33A-B52F5174C546}" presName="composite" presStyleCnt="0"/>
      <dgm:spPr/>
    </dgm:pt>
    <dgm:pt modelId="{C1924E73-4BF9-4091-8C70-5F5E3A8FC14A}" type="pres">
      <dgm:prSet presAssocID="{7121C1AD-CA9F-42B3-A33A-B52F5174C546}" presName="parentText" presStyleLbl="alignNode1" presStyleIdx="2" presStyleCnt="4">
        <dgm:presLayoutVars>
          <dgm:chMax val="1"/>
          <dgm:bulletEnabled val="1"/>
        </dgm:presLayoutVars>
      </dgm:prSet>
      <dgm:spPr/>
    </dgm:pt>
    <dgm:pt modelId="{37AADAF3-24E0-4922-8FEB-DA982519A18B}" type="pres">
      <dgm:prSet presAssocID="{7121C1AD-CA9F-42B3-A33A-B52F5174C546}" presName="descendantText" presStyleLbl="alignAcc1" presStyleIdx="2" presStyleCnt="4">
        <dgm:presLayoutVars>
          <dgm:bulletEnabled val="1"/>
        </dgm:presLayoutVars>
      </dgm:prSet>
      <dgm:spPr/>
    </dgm:pt>
    <dgm:pt modelId="{DF59A683-EF97-4393-8BAF-12CCE3E95C9C}" type="pres">
      <dgm:prSet presAssocID="{A3F87CA1-06D4-46D7-BCA5-59D37283819C}" presName="sp" presStyleCnt="0"/>
      <dgm:spPr/>
    </dgm:pt>
    <dgm:pt modelId="{27CA2FBA-641B-470B-9191-B784A70D0B70}" type="pres">
      <dgm:prSet presAssocID="{DA60F946-43BB-40A6-9363-F486814977D3}" presName="composite" presStyleCnt="0"/>
      <dgm:spPr/>
    </dgm:pt>
    <dgm:pt modelId="{5BC8C0F1-DDFC-4F5B-98C7-A34163853BAB}" type="pres">
      <dgm:prSet presAssocID="{DA60F946-43BB-40A6-9363-F486814977D3}" presName="parentText" presStyleLbl="alignNode1" presStyleIdx="3" presStyleCnt="4" custScaleY="107591">
        <dgm:presLayoutVars>
          <dgm:chMax val="1"/>
          <dgm:bulletEnabled val="1"/>
        </dgm:presLayoutVars>
      </dgm:prSet>
      <dgm:spPr/>
    </dgm:pt>
    <dgm:pt modelId="{640A1647-FEC1-41EB-B7CA-FB67AA645F60}" type="pres">
      <dgm:prSet presAssocID="{DA60F946-43BB-40A6-9363-F486814977D3}" presName="descendantText" presStyleLbl="alignAcc1" presStyleIdx="3" presStyleCnt="4" custScaleY="174639">
        <dgm:presLayoutVars>
          <dgm:bulletEnabled val="1"/>
        </dgm:presLayoutVars>
      </dgm:prSet>
      <dgm:spPr/>
    </dgm:pt>
  </dgm:ptLst>
  <dgm:cxnLst>
    <dgm:cxn modelId="{64109807-45F8-495C-ACD4-2C596C69B04F}" srcId="{B715AEE0-26C8-42EA-84A2-3269F1543C85}" destId="{76A7C656-3083-4DD6-9AF9-979852DAC655}" srcOrd="0" destOrd="0" parTransId="{E7565EE2-36F5-4D20-ACAB-F21A8895A2DF}" sibTransId="{DE1999BA-EBF8-48DB-B724-3D9E8FA20A8D}"/>
    <dgm:cxn modelId="{F8F30811-E203-43FE-AF09-3C5A1470C1BD}" type="presOf" srcId="{B715AEE0-26C8-42EA-84A2-3269F1543C85}" destId="{5AA583BF-E5A4-4758-A291-1B46A52D8958}" srcOrd="0" destOrd="0" presId="urn:microsoft.com/office/officeart/2005/8/layout/chevron2"/>
    <dgm:cxn modelId="{11C86D14-C829-4C41-9527-2FDC3008885C}" srcId="{DA60F946-43BB-40A6-9363-F486814977D3}" destId="{86282BA2-8301-43E7-B0F8-73187CDA8EF3}" srcOrd="0" destOrd="0" parTransId="{2ADE952D-9C31-4A0F-BC58-BDF859EF16FB}" sibTransId="{F4F6D31D-1C62-4D9A-AD77-DFA5CAF8ADDA}"/>
    <dgm:cxn modelId="{59DAAA18-E9EE-4E83-866C-093281C03494}" type="presOf" srcId="{7121C1AD-CA9F-42B3-A33A-B52F5174C546}" destId="{C1924E73-4BF9-4091-8C70-5F5E3A8FC14A}" srcOrd="0" destOrd="0" presId="urn:microsoft.com/office/officeart/2005/8/layout/chevron2"/>
    <dgm:cxn modelId="{C73D5F1D-268D-4972-A78F-C08403D908EF}" srcId="{DA60F946-43BB-40A6-9363-F486814977D3}" destId="{11602159-1DAF-4B88-963F-566602C149FE}" srcOrd="2" destOrd="0" parTransId="{237C9D5A-A3B8-42D1-A140-3EF06D668115}" sibTransId="{7696C5BB-2DA9-40CE-8E41-92AEE7B1060C}"/>
    <dgm:cxn modelId="{09B30134-71B6-41C6-B05C-36EC6C43DC54}" type="presOf" srcId="{41BC1F36-476E-4F45-B8A3-917201D9307B}" destId="{7D3B61C3-9F89-4ECD-A891-CEE09ACA6609}" srcOrd="0" destOrd="0" presId="urn:microsoft.com/office/officeart/2005/8/layout/chevron2"/>
    <dgm:cxn modelId="{AF72A340-9CAB-45C8-9ECD-57187107776E}" type="presOf" srcId="{026B2B9B-EA92-478B-AC99-F5272203928E}" destId="{AF465DDB-F27F-4A8E-958A-9770DBD748A1}" srcOrd="0" destOrd="0" presId="urn:microsoft.com/office/officeart/2005/8/layout/chevron2"/>
    <dgm:cxn modelId="{E2DEC361-25B9-4431-A838-70BE39D414A9}" type="presOf" srcId="{2093B096-92C0-4456-A915-B450C2B7E25A}" destId="{37AADAF3-24E0-4922-8FEB-DA982519A18B}" srcOrd="0" destOrd="1" presId="urn:microsoft.com/office/officeart/2005/8/layout/chevron2"/>
    <dgm:cxn modelId="{26326D44-14DB-4F08-8004-72AA4E344D4C}" type="presOf" srcId="{B7FE211C-F4B0-4073-AC37-B116F4A0A104}" destId="{88D63075-0525-44A5-9EBE-98A6E3B8D4E4}" srcOrd="0" destOrd="0" presId="urn:microsoft.com/office/officeart/2005/8/layout/chevron2"/>
    <dgm:cxn modelId="{9F6E2645-1BC9-467A-9F8A-AC5B3BAE2F6E}" srcId="{7121C1AD-CA9F-42B3-A33A-B52F5174C546}" destId="{F482DAB9-C799-4501-82C1-FE3FD046A459}" srcOrd="0" destOrd="0" parTransId="{7687E8E6-8540-4E57-AFDE-A1C4AD13AB1B}" sibTransId="{D88E15AF-8394-4682-ADCA-54FAEC1DDB39}"/>
    <dgm:cxn modelId="{707FA169-E97C-4D2F-80AE-7D38C1B62D19}" type="presOf" srcId="{F482DAB9-C799-4501-82C1-FE3FD046A459}" destId="{37AADAF3-24E0-4922-8FEB-DA982519A18B}" srcOrd="0" destOrd="0" presId="urn:microsoft.com/office/officeart/2005/8/layout/chevron2"/>
    <dgm:cxn modelId="{24A8E072-ABA6-4357-A194-7ABCE83AA82D}" srcId="{026B2B9B-EA92-478B-AC99-F5272203928E}" destId="{41BC1F36-476E-4F45-B8A3-917201D9307B}" srcOrd="0" destOrd="0" parTransId="{72447273-43E7-4453-B019-D9B41D11BE85}" sibTransId="{67006892-E0ED-49EB-8198-AF2ACF70D0A4}"/>
    <dgm:cxn modelId="{6AC3A874-30A1-471D-ADC0-0B012DC701A2}" srcId="{7121C1AD-CA9F-42B3-A33A-B52F5174C546}" destId="{2093B096-92C0-4456-A915-B450C2B7E25A}" srcOrd="1" destOrd="0" parTransId="{E553BB43-C94F-4979-90FE-DDE704F287C4}" sibTransId="{24FAFC06-F633-4AEC-89F1-3E2B52F209AF}"/>
    <dgm:cxn modelId="{422EE95A-9781-4BC7-8916-F9578DABFF83}" srcId="{DA60F946-43BB-40A6-9363-F486814977D3}" destId="{1705F1FD-4026-4BE1-A385-BC8706478E32}" srcOrd="1" destOrd="0" parTransId="{D68D2470-A0F4-4AAF-914B-1DFCD6B97C79}" sibTransId="{79E72194-5AD2-458B-AB78-B1B66C702902}"/>
    <dgm:cxn modelId="{2CF72B8A-B50F-426F-8026-01324BD9A4C2}" type="presOf" srcId="{86282BA2-8301-43E7-B0F8-73187CDA8EF3}" destId="{640A1647-FEC1-41EB-B7CA-FB67AA645F60}" srcOrd="0" destOrd="0" presId="urn:microsoft.com/office/officeart/2005/8/layout/chevron2"/>
    <dgm:cxn modelId="{3376A88B-B245-46E5-ABBF-7F77C447AFD7}" srcId="{B7FE211C-F4B0-4073-AC37-B116F4A0A104}" destId="{B715AEE0-26C8-42EA-84A2-3269F1543C85}" srcOrd="1" destOrd="0" parTransId="{B3BF9819-6AC1-4C3F-AC8C-8BA2F3954147}" sibTransId="{EC9CF5E6-B19C-4B1A-8908-038E52DF39CE}"/>
    <dgm:cxn modelId="{28E65F8C-3251-46CF-B891-A1B5F6B8DD83}" srcId="{B7FE211C-F4B0-4073-AC37-B116F4A0A104}" destId="{DA60F946-43BB-40A6-9363-F486814977D3}" srcOrd="3" destOrd="0" parTransId="{0395E704-DBF3-4BDA-8207-92DD7CD827AD}" sibTransId="{A706F1F7-0DC1-4D45-887E-CDF885D25FAD}"/>
    <dgm:cxn modelId="{8DA96A9E-826B-4D82-BF1B-A5898FEAAF87}" type="presOf" srcId="{DA60F946-43BB-40A6-9363-F486814977D3}" destId="{5BC8C0F1-DDFC-4F5B-98C7-A34163853BAB}" srcOrd="0" destOrd="0" presId="urn:microsoft.com/office/officeart/2005/8/layout/chevron2"/>
    <dgm:cxn modelId="{63825FAB-1311-42F9-95F2-41151A0D6207}" type="presOf" srcId="{C7951F05-61E3-4F12-9AFF-2D5C68D51D3B}" destId="{640A1647-FEC1-41EB-B7CA-FB67AA645F60}" srcOrd="0" destOrd="3" presId="urn:microsoft.com/office/officeart/2005/8/layout/chevron2"/>
    <dgm:cxn modelId="{58BADDAC-D30A-4547-8FC5-4B28D18089A5}" srcId="{DA60F946-43BB-40A6-9363-F486814977D3}" destId="{C7951F05-61E3-4F12-9AFF-2D5C68D51D3B}" srcOrd="3" destOrd="0" parTransId="{0D9A55B6-CC9F-4DCB-A8AE-096DC7C2168E}" sibTransId="{7F2D2B1D-AD4B-4894-B6CE-91242101F54C}"/>
    <dgm:cxn modelId="{075A43B8-B024-43A7-9F88-5A7B2C433504}" type="presOf" srcId="{5014B590-8837-4ED8-98AA-53032DAC9B25}" destId="{7D3B61C3-9F89-4ECD-A891-CEE09ACA6609}" srcOrd="0" destOrd="1" presId="urn:microsoft.com/office/officeart/2005/8/layout/chevron2"/>
    <dgm:cxn modelId="{E798F2CB-9191-4E7D-AA18-A5BB5979B4FE}" srcId="{026B2B9B-EA92-478B-AC99-F5272203928E}" destId="{5014B590-8837-4ED8-98AA-53032DAC9B25}" srcOrd="1" destOrd="0" parTransId="{465D7257-3CD8-48E4-B8A0-C26ACCB0E93A}" sibTransId="{BAB555E8-DAC9-4B7A-86A6-ECB4C1DB8546}"/>
    <dgm:cxn modelId="{11B61CD0-A3B3-4778-B62A-71171FA9680C}" type="presOf" srcId="{76A7C656-3083-4DD6-9AF9-979852DAC655}" destId="{B4A2ABA5-313E-41BF-A03D-A0A659FBF583}" srcOrd="0" destOrd="0" presId="urn:microsoft.com/office/officeart/2005/8/layout/chevron2"/>
    <dgm:cxn modelId="{FBFC69D0-3A55-45F2-9350-E17EE2E63CC9}" srcId="{B7FE211C-F4B0-4073-AC37-B116F4A0A104}" destId="{7121C1AD-CA9F-42B3-A33A-B52F5174C546}" srcOrd="2" destOrd="0" parTransId="{80D01B5E-A7DD-4A9E-8C7D-2DA4702358F2}" sibTransId="{A3F87CA1-06D4-46D7-BCA5-59D37283819C}"/>
    <dgm:cxn modelId="{A1EFB8E8-7F48-4B99-8117-F34D281F46F3}" type="presOf" srcId="{1705F1FD-4026-4BE1-A385-BC8706478E32}" destId="{640A1647-FEC1-41EB-B7CA-FB67AA645F60}" srcOrd="0" destOrd="1" presId="urn:microsoft.com/office/officeart/2005/8/layout/chevron2"/>
    <dgm:cxn modelId="{BC8F47EC-F527-4D78-B989-CC82C6367847}" type="presOf" srcId="{11602159-1DAF-4B88-963F-566602C149FE}" destId="{640A1647-FEC1-41EB-B7CA-FB67AA645F60}" srcOrd="0" destOrd="2" presId="urn:microsoft.com/office/officeart/2005/8/layout/chevron2"/>
    <dgm:cxn modelId="{AA9CC3ED-2452-4B4B-B783-933BB35052C1}" srcId="{B7FE211C-F4B0-4073-AC37-B116F4A0A104}" destId="{026B2B9B-EA92-478B-AC99-F5272203928E}" srcOrd="0" destOrd="0" parTransId="{D3AF476A-7254-4668-BA1F-FDF4F1A3538D}" sibTransId="{CD64D528-2209-4704-ABB0-F0CE4F1B21E5}"/>
    <dgm:cxn modelId="{9F84980E-C645-4654-8EA2-FB03CA97F629}" type="presParOf" srcId="{88D63075-0525-44A5-9EBE-98A6E3B8D4E4}" destId="{C69B9F62-5AD7-4568-8034-0689E43F4BBE}" srcOrd="0" destOrd="0" presId="urn:microsoft.com/office/officeart/2005/8/layout/chevron2"/>
    <dgm:cxn modelId="{78D3E1E3-437E-44EB-8FDF-CBF3A15269F6}" type="presParOf" srcId="{C69B9F62-5AD7-4568-8034-0689E43F4BBE}" destId="{AF465DDB-F27F-4A8E-958A-9770DBD748A1}" srcOrd="0" destOrd="0" presId="urn:microsoft.com/office/officeart/2005/8/layout/chevron2"/>
    <dgm:cxn modelId="{E77FCD08-89DB-4544-8524-85B5D4AC00EA}" type="presParOf" srcId="{C69B9F62-5AD7-4568-8034-0689E43F4BBE}" destId="{7D3B61C3-9F89-4ECD-A891-CEE09ACA6609}" srcOrd="1" destOrd="0" presId="urn:microsoft.com/office/officeart/2005/8/layout/chevron2"/>
    <dgm:cxn modelId="{73396045-746F-4C99-A7A4-A5893191B34B}" type="presParOf" srcId="{88D63075-0525-44A5-9EBE-98A6E3B8D4E4}" destId="{7DF6AE76-A39A-4654-8A39-D2698CED12C1}" srcOrd="1" destOrd="0" presId="urn:microsoft.com/office/officeart/2005/8/layout/chevron2"/>
    <dgm:cxn modelId="{4FA2C560-4702-4946-8FDB-F68E3DD34CEF}" type="presParOf" srcId="{88D63075-0525-44A5-9EBE-98A6E3B8D4E4}" destId="{14444236-C834-4D1A-9EE1-40A35FA54F2C}" srcOrd="2" destOrd="0" presId="urn:microsoft.com/office/officeart/2005/8/layout/chevron2"/>
    <dgm:cxn modelId="{F217B7D2-36D0-4B63-BF0E-2F8DFAD7D85D}" type="presParOf" srcId="{14444236-C834-4D1A-9EE1-40A35FA54F2C}" destId="{5AA583BF-E5A4-4758-A291-1B46A52D8958}" srcOrd="0" destOrd="0" presId="urn:microsoft.com/office/officeart/2005/8/layout/chevron2"/>
    <dgm:cxn modelId="{F2DAEFEC-25C8-4792-B60F-A2179F8F5BBB}" type="presParOf" srcId="{14444236-C834-4D1A-9EE1-40A35FA54F2C}" destId="{B4A2ABA5-313E-41BF-A03D-A0A659FBF583}" srcOrd="1" destOrd="0" presId="urn:microsoft.com/office/officeart/2005/8/layout/chevron2"/>
    <dgm:cxn modelId="{DF83986D-E7F1-4B34-8CB4-18485D384A3D}" type="presParOf" srcId="{88D63075-0525-44A5-9EBE-98A6E3B8D4E4}" destId="{36F19F0A-E436-47DB-87D2-F6C3B6A2C9C6}" srcOrd="3" destOrd="0" presId="urn:microsoft.com/office/officeart/2005/8/layout/chevron2"/>
    <dgm:cxn modelId="{C8E7908E-213C-44B8-9686-8078B41EDEA2}" type="presParOf" srcId="{88D63075-0525-44A5-9EBE-98A6E3B8D4E4}" destId="{F32C5886-CDAE-4BCF-A928-181364D14070}" srcOrd="4" destOrd="0" presId="urn:microsoft.com/office/officeart/2005/8/layout/chevron2"/>
    <dgm:cxn modelId="{E405B4D8-9526-411A-83B6-6D97630FB66F}" type="presParOf" srcId="{F32C5886-CDAE-4BCF-A928-181364D14070}" destId="{C1924E73-4BF9-4091-8C70-5F5E3A8FC14A}" srcOrd="0" destOrd="0" presId="urn:microsoft.com/office/officeart/2005/8/layout/chevron2"/>
    <dgm:cxn modelId="{65426CC3-9C8B-4AE7-90AD-EA4C1D04853F}" type="presParOf" srcId="{F32C5886-CDAE-4BCF-A928-181364D14070}" destId="{37AADAF3-24E0-4922-8FEB-DA982519A18B}" srcOrd="1" destOrd="0" presId="urn:microsoft.com/office/officeart/2005/8/layout/chevron2"/>
    <dgm:cxn modelId="{46AB92E5-C1C0-4A53-AC0A-6124D25873B6}" type="presParOf" srcId="{88D63075-0525-44A5-9EBE-98A6E3B8D4E4}" destId="{DF59A683-EF97-4393-8BAF-12CCE3E95C9C}" srcOrd="5" destOrd="0" presId="urn:microsoft.com/office/officeart/2005/8/layout/chevron2"/>
    <dgm:cxn modelId="{FA282A5B-32AE-4C3E-B3EB-34383F7E495C}" type="presParOf" srcId="{88D63075-0525-44A5-9EBE-98A6E3B8D4E4}" destId="{27CA2FBA-641B-470B-9191-B784A70D0B70}" srcOrd="6" destOrd="0" presId="urn:microsoft.com/office/officeart/2005/8/layout/chevron2"/>
    <dgm:cxn modelId="{7C5EA71B-AE8F-4D10-B6B0-7A04C63B86AE}" type="presParOf" srcId="{27CA2FBA-641B-470B-9191-B784A70D0B70}" destId="{5BC8C0F1-DDFC-4F5B-98C7-A34163853BAB}" srcOrd="0" destOrd="0" presId="urn:microsoft.com/office/officeart/2005/8/layout/chevron2"/>
    <dgm:cxn modelId="{798F7732-3BAA-47C1-B771-B0F98286A638}" type="presParOf" srcId="{27CA2FBA-641B-470B-9191-B784A70D0B70}" destId="{640A1647-FEC1-41EB-B7CA-FB67AA645F60}"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9045A4-581A-4A8D-8B3B-61530A5CF4D4}"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C35389AE-7B1C-488B-817A-F4E762884A5E}">
      <dgm:prSet phldrT="[Text]"/>
      <dgm:spPr/>
      <dgm:t>
        <a:bodyPr/>
        <a:lstStyle/>
        <a:p>
          <a:pPr>
            <a:buNone/>
          </a:pPr>
          <a:r>
            <a:rPr lang="en-US" b="1" dirty="0">
              <a:solidFill>
                <a:srgbClr val="1F1F1F"/>
              </a:solidFill>
              <a:effectLst/>
              <a:latin typeface="Google Sans Text"/>
            </a:rPr>
            <a:t>New Question 1</a:t>
          </a:r>
          <a:endParaRPr lang="en-US" dirty="0"/>
        </a:p>
      </dgm:t>
    </dgm:pt>
    <dgm:pt modelId="{A386C4B8-4460-4ED2-8784-9AA792D6E1C3}" type="parTrans" cxnId="{AA2CD2D2-7C99-4C03-BE14-CEAAFC6DFFBC}">
      <dgm:prSet/>
      <dgm:spPr/>
      <dgm:t>
        <a:bodyPr/>
        <a:lstStyle/>
        <a:p>
          <a:endParaRPr lang="en-US"/>
        </a:p>
      </dgm:t>
    </dgm:pt>
    <dgm:pt modelId="{627853D1-2F9A-4F74-BD49-2F3F59F366CE}" type="sibTrans" cxnId="{AA2CD2D2-7C99-4C03-BE14-CEAAFC6DFFBC}">
      <dgm:prSet/>
      <dgm:spPr/>
      <dgm:t>
        <a:bodyPr/>
        <a:lstStyle/>
        <a:p>
          <a:endParaRPr lang="en-US"/>
        </a:p>
      </dgm:t>
    </dgm:pt>
    <dgm:pt modelId="{43D59003-10CA-44FC-8AAE-F98388D0F124}">
      <dgm:prSet phldrT="[Text]"/>
      <dgm:spPr/>
      <dgm:t>
        <a:bodyPr/>
        <a:lstStyle/>
        <a:p>
          <a:pPr>
            <a:buNone/>
          </a:pPr>
          <a:r>
            <a:rPr lang="en-US" b="1" dirty="0">
              <a:solidFill>
                <a:srgbClr val="1F1F1F"/>
              </a:solidFill>
              <a:effectLst/>
              <a:latin typeface="Google Sans Text"/>
            </a:rPr>
            <a:t>Evaluate  Condition Impact:</a:t>
          </a:r>
          <a:r>
            <a:rPr lang="en-US" dirty="0">
              <a:solidFill>
                <a:srgbClr val="1F1F1F"/>
              </a:solidFill>
              <a:effectLst/>
              <a:latin typeface="Google Sans Text"/>
            </a:rPr>
            <a:t> How much does each type of damage (e.g., mechanical vs. cosmetic) depreciate a vehicle?</a:t>
          </a:r>
          <a:endParaRPr lang="en-US" dirty="0"/>
        </a:p>
      </dgm:t>
    </dgm:pt>
    <dgm:pt modelId="{90DD7806-24FD-4559-8812-CBE9E31E5930}" type="parTrans" cxnId="{7ED66900-271B-4852-A8FF-F2D3107C24B5}">
      <dgm:prSet/>
      <dgm:spPr/>
      <dgm:t>
        <a:bodyPr/>
        <a:lstStyle/>
        <a:p>
          <a:endParaRPr lang="en-US"/>
        </a:p>
      </dgm:t>
    </dgm:pt>
    <dgm:pt modelId="{EE4C36D2-C0D9-443D-9725-334B832EFFA5}" type="sibTrans" cxnId="{7ED66900-271B-4852-A8FF-F2D3107C24B5}">
      <dgm:prSet/>
      <dgm:spPr/>
      <dgm:t>
        <a:bodyPr/>
        <a:lstStyle/>
        <a:p>
          <a:endParaRPr lang="en-US"/>
        </a:p>
      </dgm:t>
    </dgm:pt>
    <dgm:pt modelId="{29D62725-D38F-4841-B863-A11671CCE8AB}">
      <dgm:prSet phldrT="[Text]"/>
      <dgm:spPr/>
      <dgm:t>
        <a:bodyPr/>
        <a:lstStyle/>
        <a:p>
          <a:pPr>
            <a:buNone/>
          </a:pPr>
          <a:r>
            <a:rPr lang="en-US" b="1" dirty="0">
              <a:solidFill>
                <a:srgbClr val="1F1F1F"/>
              </a:solidFill>
              <a:effectLst/>
              <a:latin typeface="Google Sans Text"/>
            </a:rPr>
            <a:t>Next Step 1</a:t>
          </a:r>
          <a:endParaRPr lang="en-US" dirty="0"/>
        </a:p>
      </dgm:t>
    </dgm:pt>
    <dgm:pt modelId="{CF986154-E8EE-4FFD-B7F2-E16754F9FD81}" type="parTrans" cxnId="{1720A107-27A0-48DC-B21F-A1CA592F3994}">
      <dgm:prSet/>
      <dgm:spPr/>
      <dgm:t>
        <a:bodyPr/>
        <a:lstStyle/>
        <a:p>
          <a:endParaRPr lang="en-US"/>
        </a:p>
      </dgm:t>
    </dgm:pt>
    <dgm:pt modelId="{2F5CF167-DE02-4EFC-890A-E306E0425085}" type="sibTrans" cxnId="{1720A107-27A0-48DC-B21F-A1CA592F3994}">
      <dgm:prSet/>
      <dgm:spPr/>
      <dgm:t>
        <a:bodyPr/>
        <a:lstStyle/>
        <a:p>
          <a:endParaRPr lang="en-US"/>
        </a:p>
      </dgm:t>
    </dgm:pt>
    <dgm:pt modelId="{38368E30-20C8-4720-8F58-E0B081F865E7}">
      <dgm:prSet phldrT="[Text]"/>
      <dgm:spPr/>
      <dgm:t>
        <a:bodyPr/>
        <a:lstStyle/>
        <a:p>
          <a:pPr>
            <a:buNone/>
          </a:pPr>
          <a:r>
            <a:rPr lang="en-US" dirty="0">
              <a:solidFill>
                <a:srgbClr val="1F1F1F"/>
              </a:solidFill>
              <a:effectLst/>
              <a:latin typeface="Google Sans Text"/>
            </a:rPr>
            <a:t>Categorize and analyze the specific issues mentioned in "bad condition reports" to guide the most profitable repair investments.</a:t>
          </a:r>
          <a:endParaRPr lang="en-US" dirty="0"/>
        </a:p>
      </dgm:t>
    </dgm:pt>
    <dgm:pt modelId="{F0A8B050-9FAC-41A7-93DB-67A9690666CE}" type="parTrans" cxnId="{9F34A2D9-C376-47AA-8C12-E38311FFDEAE}">
      <dgm:prSet/>
      <dgm:spPr/>
      <dgm:t>
        <a:bodyPr/>
        <a:lstStyle/>
        <a:p>
          <a:endParaRPr lang="en-US"/>
        </a:p>
      </dgm:t>
    </dgm:pt>
    <dgm:pt modelId="{73423743-AC5A-4939-B67F-F2871F45B186}" type="sibTrans" cxnId="{9F34A2D9-C376-47AA-8C12-E38311FFDEAE}">
      <dgm:prSet/>
      <dgm:spPr/>
      <dgm:t>
        <a:bodyPr/>
        <a:lstStyle/>
        <a:p>
          <a:endParaRPr lang="en-US"/>
        </a:p>
      </dgm:t>
    </dgm:pt>
    <dgm:pt modelId="{A5114C51-D9F3-496E-8DD9-63CDF6C3B8DE}">
      <dgm:prSet phldrT="[Text]"/>
      <dgm:spPr/>
      <dgm:t>
        <a:bodyPr/>
        <a:lstStyle/>
        <a:p>
          <a:pPr>
            <a:buNone/>
          </a:pPr>
          <a:r>
            <a:rPr lang="en-US" b="1" dirty="0">
              <a:solidFill>
                <a:srgbClr val="1F1F1F"/>
              </a:solidFill>
              <a:effectLst/>
              <a:latin typeface="Google Sans Text"/>
            </a:rPr>
            <a:t>New Question 2</a:t>
          </a:r>
          <a:endParaRPr lang="en-US" dirty="0"/>
        </a:p>
      </dgm:t>
    </dgm:pt>
    <dgm:pt modelId="{708A07D7-6C05-4FD6-BE7E-1870FE0617B2}" type="parTrans" cxnId="{C860EA73-3B07-42EB-A73E-1648A7B07D99}">
      <dgm:prSet/>
      <dgm:spPr/>
      <dgm:t>
        <a:bodyPr/>
        <a:lstStyle/>
        <a:p>
          <a:endParaRPr lang="en-US"/>
        </a:p>
      </dgm:t>
    </dgm:pt>
    <dgm:pt modelId="{96CF0863-6742-4C4A-8A00-F33B8E0AB7A4}" type="sibTrans" cxnId="{C860EA73-3B07-42EB-A73E-1648A7B07D99}">
      <dgm:prSet/>
      <dgm:spPr/>
      <dgm:t>
        <a:bodyPr/>
        <a:lstStyle/>
        <a:p>
          <a:endParaRPr lang="en-US"/>
        </a:p>
      </dgm:t>
    </dgm:pt>
    <dgm:pt modelId="{3428B8BC-8522-4BA5-810E-D19D01198AB7}">
      <dgm:prSet phldrT="[Text]"/>
      <dgm:spPr/>
      <dgm:t>
        <a:bodyPr/>
        <a:lstStyle/>
        <a:p>
          <a:pPr>
            <a:buFont typeface="Arial" panose="020B0604020202020204" pitchFamily="34" charset="0"/>
            <a:buNone/>
          </a:pPr>
          <a:r>
            <a:rPr lang="en-US" b="1" dirty="0">
              <a:solidFill>
                <a:srgbClr val="1F1F1F"/>
              </a:solidFill>
              <a:effectLst/>
              <a:latin typeface="Google Sans Text"/>
            </a:rPr>
            <a:t>Profitability by Segment:</a:t>
          </a:r>
          <a:r>
            <a:rPr lang="en-US" dirty="0">
              <a:solidFill>
                <a:srgbClr val="1F1F1F"/>
              </a:solidFill>
              <a:effectLst/>
              <a:latin typeface="Google Sans Text"/>
            </a:rPr>
            <a:t> Which manufacturers and body styles (SUVs vs. Trucks) are the most/least profitable vehicles for our dealership?</a:t>
          </a:r>
          <a:endParaRPr lang="en-US" dirty="0"/>
        </a:p>
      </dgm:t>
    </dgm:pt>
    <dgm:pt modelId="{68AED562-8D56-46C9-80FA-7CC472C039FF}" type="parTrans" cxnId="{EADA289A-707D-4D36-A6FC-5ACFE26AFE5B}">
      <dgm:prSet/>
      <dgm:spPr/>
      <dgm:t>
        <a:bodyPr/>
        <a:lstStyle/>
        <a:p>
          <a:endParaRPr lang="en-US"/>
        </a:p>
      </dgm:t>
    </dgm:pt>
    <dgm:pt modelId="{D4301EB4-1C7D-41F5-872E-38B0D71D7114}" type="sibTrans" cxnId="{EADA289A-707D-4D36-A6FC-5ACFE26AFE5B}">
      <dgm:prSet/>
      <dgm:spPr/>
      <dgm:t>
        <a:bodyPr/>
        <a:lstStyle/>
        <a:p>
          <a:endParaRPr lang="en-US"/>
        </a:p>
      </dgm:t>
    </dgm:pt>
    <dgm:pt modelId="{0A749DAC-0E98-4357-9DA1-85C906968F73}">
      <dgm:prSet/>
      <dgm:spPr/>
      <dgm:t>
        <a:bodyPr/>
        <a:lstStyle/>
        <a:p>
          <a:r>
            <a:rPr lang="en-US" b="1" dirty="0">
              <a:solidFill>
                <a:srgbClr val="1F1F1F"/>
              </a:solidFill>
              <a:effectLst/>
              <a:latin typeface="Google Sans Text"/>
            </a:rPr>
            <a:t>Next Step 2</a:t>
          </a:r>
          <a:endParaRPr lang="en-US" dirty="0">
            <a:solidFill>
              <a:srgbClr val="1F1F1F"/>
            </a:solidFill>
            <a:effectLst/>
            <a:latin typeface="Google Sans Text"/>
          </a:endParaRPr>
        </a:p>
      </dgm:t>
    </dgm:pt>
    <dgm:pt modelId="{12DBA339-9727-4F8D-B493-D406425A6F2F}" type="parTrans" cxnId="{0C04858B-2D6C-428E-A1CB-1A8A8DA18CA8}">
      <dgm:prSet/>
      <dgm:spPr/>
      <dgm:t>
        <a:bodyPr/>
        <a:lstStyle/>
        <a:p>
          <a:endParaRPr lang="en-US"/>
        </a:p>
      </dgm:t>
    </dgm:pt>
    <dgm:pt modelId="{4E7E45BF-AC46-4908-91C0-FB75CC9A8BAD}" type="sibTrans" cxnId="{0C04858B-2D6C-428E-A1CB-1A8A8DA18CA8}">
      <dgm:prSet/>
      <dgm:spPr/>
      <dgm:t>
        <a:bodyPr/>
        <a:lstStyle/>
        <a:p>
          <a:endParaRPr lang="en-US"/>
        </a:p>
      </dgm:t>
    </dgm:pt>
    <dgm:pt modelId="{1F273265-D112-4D67-A39A-3F882AF7E455}">
      <dgm:prSet custT="1"/>
      <dgm:spPr/>
      <dgm:t>
        <a:bodyPr/>
        <a:lstStyle/>
        <a:p>
          <a:pPr>
            <a:buFont typeface="Arial" panose="020B0604020202020204" pitchFamily="34" charset="0"/>
            <a:buChar char="•"/>
          </a:pPr>
          <a:r>
            <a:rPr lang="en-US" sz="1600" dirty="0">
              <a:solidFill>
                <a:srgbClr val="1F1F1F"/>
              </a:solidFill>
              <a:effectLst/>
              <a:latin typeface="Google Sans Text"/>
            </a:rPr>
            <a:t>Analyze average profit margins by manufacturer and body style.</a:t>
          </a:r>
          <a:endParaRPr lang="en-US" sz="1600" dirty="0"/>
        </a:p>
      </dgm:t>
    </dgm:pt>
    <dgm:pt modelId="{6D38783A-DBAE-4C25-B2BF-BD290BDE2810}" type="parTrans" cxnId="{ECD7EB5E-74A8-446D-98AF-7B63E417FC6A}">
      <dgm:prSet/>
      <dgm:spPr/>
      <dgm:t>
        <a:bodyPr/>
        <a:lstStyle/>
        <a:p>
          <a:endParaRPr lang="en-US"/>
        </a:p>
      </dgm:t>
    </dgm:pt>
    <dgm:pt modelId="{59CF3BB8-29FA-423E-A15A-C378662DB42E}" type="sibTrans" cxnId="{ECD7EB5E-74A8-446D-98AF-7B63E417FC6A}">
      <dgm:prSet/>
      <dgm:spPr/>
      <dgm:t>
        <a:bodyPr/>
        <a:lstStyle/>
        <a:p>
          <a:endParaRPr lang="en-US"/>
        </a:p>
      </dgm:t>
    </dgm:pt>
    <dgm:pt modelId="{1633B135-9B43-4D5E-AFE5-D3EE55D58B46}" type="pres">
      <dgm:prSet presAssocID="{DC9045A4-581A-4A8D-8B3B-61530A5CF4D4}" presName="linearFlow" presStyleCnt="0">
        <dgm:presLayoutVars>
          <dgm:dir/>
          <dgm:animLvl val="lvl"/>
          <dgm:resizeHandles val="exact"/>
        </dgm:presLayoutVars>
      </dgm:prSet>
      <dgm:spPr/>
    </dgm:pt>
    <dgm:pt modelId="{AA15B66C-8E73-4AFD-B970-219B002823F9}" type="pres">
      <dgm:prSet presAssocID="{C35389AE-7B1C-488B-817A-F4E762884A5E}" presName="composite" presStyleCnt="0"/>
      <dgm:spPr/>
    </dgm:pt>
    <dgm:pt modelId="{6798551E-D33D-4C70-8572-11AB0FC9FE7C}" type="pres">
      <dgm:prSet presAssocID="{C35389AE-7B1C-488B-817A-F4E762884A5E}" presName="parentText" presStyleLbl="alignNode1" presStyleIdx="0" presStyleCnt="4">
        <dgm:presLayoutVars>
          <dgm:chMax val="1"/>
          <dgm:bulletEnabled val="1"/>
        </dgm:presLayoutVars>
      </dgm:prSet>
      <dgm:spPr/>
    </dgm:pt>
    <dgm:pt modelId="{31550953-101B-44A2-93A0-DFFAE7D45F23}" type="pres">
      <dgm:prSet presAssocID="{C35389AE-7B1C-488B-817A-F4E762884A5E}" presName="descendantText" presStyleLbl="alignAcc1" presStyleIdx="0" presStyleCnt="4">
        <dgm:presLayoutVars>
          <dgm:bulletEnabled val="1"/>
        </dgm:presLayoutVars>
      </dgm:prSet>
      <dgm:spPr/>
    </dgm:pt>
    <dgm:pt modelId="{67AB96BD-A857-4792-894C-5908516DB746}" type="pres">
      <dgm:prSet presAssocID="{627853D1-2F9A-4F74-BD49-2F3F59F366CE}" presName="sp" presStyleCnt="0"/>
      <dgm:spPr/>
    </dgm:pt>
    <dgm:pt modelId="{E8295028-0C6E-4FC3-A877-C037FEB0C498}" type="pres">
      <dgm:prSet presAssocID="{29D62725-D38F-4841-B863-A11671CCE8AB}" presName="composite" presStyleCnt="0"/>
      <dgm:spPr/>
    </dgm:pt>
    <dgm:pt modelId="{9C1F3344-06B5-46F8-BADD-0D620099605A}" type="pres">
      <dgm:prSet presAssocID="{29D62725-D38F-4841-B863-A11671CCE8AB}" presName="parentText" presStyleLbl="alignNode1" presStyleIdx="1" presStyleCnt="4">
        <dgm:presLayoutVars>
          <dgm:chMax val="1"/>
          <dgm:bulletEnabled val="1"/>
        </dgm:presLayoutVars>
      </dgm:prSet>
      <dgm:spPr/>
    </dgm:pt>
    <dgm:pt modelId="{29D5665D-369F-4DBE-9D75-23537FE4EAB9}" type="pres">
      <dgm:prSet presAssocID="{29D62725-D38F-4841-B863-A11671CCE8AB}" presName="descendantText" presStyleLbl="alignAcc1" presStyleIdx="1" presStyleCnt="4">
        <dgm:presLayoutVars>
          <dgm:bulletEnabled val="1"/>
        </dgm:presLayoutVars>
      </dgm:prSet>
      <dgm:spPr/>
    </dgm:pt>
    <dgm:pt modelId="{96751EA1-5FE6-4DB9-999B-892F6BBA6BAF}" type="pres">
      <dgm:prSet presAssocID="{2F5CF167-DE02-4EFC-890A-E306E0425085}" presName="sp" presStyleCnt="0"/>
      <dgm:spPr/>
    </dgm:pt>
    <dgm:pt modelId="{12FB9EBD-2492-49D4-87BB-F55648A4B59D}" type="pres">
      <dgm:prSet presAssocID="{A5114C51-D9F3-496E-8DD9-63CDF6C3B8DE}" presName="composite" presStyleCnt="0"/>
      <dgm:spPr/>
    </dgm:pt>
    <dgm:pt modelId="{6EC0E50C-3918-4935-9CCD-2C4513504BF1}" type="pres">
      <dgm:prSet presAssocID="{A5114C51-D9F3-496E-8DD9-63CDF6C3B8DE}" presName="parentText" presStyleLbl="alignNode1" presStyleIdx="2" presStyleCnt="4">
        <dgm:presLayoutVars>
          <dgm:chMax val="1"/>
          <dgm:bulletEnabled val="1"/>
        </dgm:presLayoutVars>
      </dgm:prSet>
      <dgm:spPr/>
    </dgm:pt>
    <dgm:pt modelId="{6FE9DB43-34A6-4C6E-B522-4C69729DFD1B}" type="pres">
      <dgm:prSet presAssocID="{A5114C51-D9F3-496E-8DD9-63CDF6C3B8DE}" presName="descendantText" presStyleLbl="alignAcc1" presStyleIdx="2" presStyleCnt="4" custLinFactNeighborX="0" custLinFactNeighborY="2978">
        <dgm:presLayoutVars>
          <dgm:bulletEnabled val="1"/>
        </dgm:presLayoutVars>
      </dgm:prSet>
      <dgm:spPr/>
    </dgm:pt>
    <dgm:pt modelId="{4F69CDBF-3C3A-4FB0-BAC7-963E5433B2A8}" type="pres">
      <dgm:prSet presAssocID="{96CF0863-6742-4C4A-8A00-F33B8E0AB7A4}" presName="sp" presStyleCnt="0"/>
      <dgm:spPr/>
    </dgm:pt>
    <dgm:pt modelId="{3056ACC1-3DFC-4336-B5FC-6623106C6BFE}" type="pres">
      <dgm:prSet presAssocID="{0A749DAC-0E98-4357-9DA1-85C906968F73}" presName="composite" presStyleCnt="0"/>
      <dgm:spPr/>
    </dgm:pt>
    <dgm:pt modelId="{6E558925-EFA5-46FC-8BC0-A7F9B023FF71}" type="pres">
      <dgm:prSet presAssocID="{0A749DAC-0E98-4357-9DA1-85C906968F73}" presName="parentText" presStyleLbl="alignNode1" presStyleIdx="3" presStyleCnt="4">
        <dgm:presLayoutVars>
          <dgm:chMax val="1"/>
          <dgm:bulletEnabled val="1"/>
        </dgm:presLayoutVars>
      </dgm:prSet>
      <dgm:spPr/>
    </dgm:pt>
    <dgm:pt modelId="{5CD118E7-8731-47C6-B6FB-457586D1AF5B}" type="pres">
      <dgm:prSet presAssocID="{0A749DAC-0E98-4357-9DA1-85C906968F73}" presName="descendantText" presStyleLbl="alignAcc1" presStyleIdx="3" presStyleCnt="4" custLinFactNeighborX="0" custLinFactNeighborY="4467">
        <dgm:presLayoutVars>
          <dgm:bulletEnabled val="1"/>
        </dgm:presLayoutVars>
      </dgm:prSet>
      <dgm:spPr/>
    </dgm:pt>
  </dgm:ptLst>
  <dgm:cxnLst>
    <dgm:cxn modelId="{7ED66900-271B-4852-A8FF-F2D3107C24B5}" srcId="{C35389AE-7B1C-488B-817A-F4E762884A5E}" destId="{43D59003-10CA-44FC-8AAE-F98388D0F124}" srcOrd="0" destOrd="0" parTransId="{90DD7806-24FD-4559-8812-CBE9E31E5930}" sibTransId="{EE4C36D2-C0D9-443D-9725-334B832EFFA5}"/>
    <dgm:cxn modelId="{C5E77301-768D-4981-B39C-1807EFB37157}" type="presOf" srcId="{A5114C51-D9F3-496E-8DD9-63CDF6C3B8DE}" destId="{6EC0E50C-3918-4935-9CCD-2C4513504BF1}" srcOrd="0" destOrd="0" presId="urn:microsoft.com/office/officeart/2005/8/layout/chevron2"/>
    <dgm:cxn modelId="{1720A107-27A0-48DC-B21F-A1CA592F3994}" srcId="{DC9045A4-581A-4A8D-8B3B-61530A5CF4D4}" destId="{29D62725-D38F-4841-B863-A11671CCE8AB}" srcOrd="1" destOrd="0" parTransId="{CF986154-E8EE-4FFD-B7F2-E16754F9FD81}" sibTransId="{2F5CF167-DE02-4EFC-890A-E306E0425085}"/>
    <dgm:cxn modelId="{ECD7EB5E-74A8-446D-98AF-7B63E417FC6A}" srcId="{0A749DAC-0E98-4357-9DA1-85C906968F73}" destId="{1F273265-D112-4D67-A39A-3F882AF7E455}" srcOrd="0" destOrd="0" parTransId="{6D38783A-DBAE-4C25-B2BF-BD290BDE2810}" sibTransId="{59CF3BB8-29FA-423E-A15A-C378662DB42E}"/>
    <dgm:cxn modelId="{30CC5B66-0117-44B8-A4D9-AA42A965C860}" type="presOf" srcId="{38368E30-20C8-4720-8F58-E0B081F865E7}" destId="{29D5665D-369F-4DBE-9D75-23537FE4EAB9}" srcOrd="0" destOrd="0" presId="urn:microsoft.com/office/officeart/2005/8/layout/chevron2"/>
    <dgm:cxn modelId="{AC90A147-50F7-4D3D-9D73-EF5648FD54E6}" type="presOf" srcId="{1F273265-D112-4D67-A39A-3F882AF7E455}" destId="{5CD118E7-8731-47C6-B6FB-457586D1AF5B}" srcOrd="0" destOrd="0" presId="urn:microsoft.com/office/officeart/2005/8/layout/chevron2"/>
    <dgm:cxn modelId="{62584C4B-9315-4E5F-AB55-269AA25C73AE}" type="presOf" srcId="{DC9045A4-581A-4A8D-8B3B-61530A5CF4D4}" destId="{1633B135-9B43-4D5E-AFE5-D3EE55D58B46}" srcOrd="0" destOrd="0" presId="urn:microsoft.com/office/officeart/2005/8/layout/chevron2"/>
    <dgm:cxn modelId="{83FAA94E-643D-4C43-87D6-833B6B279656}" type="presOf" srcId="{43D59003-10CA-44FC-8AAE-F98388D0F124}" destId="{31550953-101B-44A2-93A0-DFFAE7D45F23}" srcOrd="0" destOrd="0" presId="urn:microsoft.com/office/officeart/2005/8/layout/chevron2"/>
    <dgm:cxn modelId="{B284FF72-ED9B-4503-A6B1-06F3E1C26544}" type="presOf" srcId="{C35389AE-7B1C-488B-817A-F4E762884A5E}" destId="{6798551E-D33D-4C70-8572-11AB0FC9FE7C}" srcOrd="0" destOrd="0" presId="urn:microsoft.com/office/officeart/2005/8/layout/chevron2"/>
    <dgm:cxn modelId="{C860EA73-3B07-42EB-A73E-1648A7B07D99}" srcId="{DC9045A4-581A-4A8D-8B3B-61530A5CF4D4}" destId="{A5114C51-D9F3-496E-8DD9-63CDF6C3B8DE}" srcOrd="2" destOrd="0" parTransId="{708A07D7-6C05-4FD6-BE7E-1870FE0617B2}" sibTransId="{96CF0863-6742-4C4A-8A00-F33B8E0AB7A4}"/>
    <dgm:cxn modelId="{0C04858B-2D6C-428E-A1CB-1A8A8DA18CA8}" srcId="{DC9045A4-581A-4A8D-8B3B-61530A5CF4D4}" destId="{0A749DAC-0E98-4357-9DA1-85C906968F73}" srcOrd="3" destOrd="0" parTransId="{12DBA339-9727-4F8D-B493-D406425A6F2F}" sibTransId="{4E7E45BF-AC46-4908-91C0-FB75CC9A8BAD}"/>
    <dgm:cxn modelId="{EADA289A-707D-4D36-A6FC-5ACFE26AFE5B}" srcId="{A5114C51-D9F3-496E-8DD9-63CDF6C3B8DE}" destId="{3428B8BC-8522-4BA5-810E-D19D01198AB7}" srcOrd="0" destOrd="0" parTransId="{68AED562-8D56-46C9-80FA-7CC472C039FF}" sibTransId="{D4301EB4-1C7D-41F5-872E-38B0D71D7114}"/>
    <dgm:cxn modelId="{4EC281BA-5974-4D0C-9F23-4037E1D9632F}" type="presOf" srcId="{3428B8BC-8522-4BA5-810E-D19D01198AB7}" destId="{6FE9DB43-34A6-4C6E-B522-4C69729DFD1B}" srcOrd="0" destOrd="0" presId="urn:microsoft.com/office/officeart/2005/8/layout/chevron2"/>
    <dgm:cxn modelId="{EBD518CB-5CCA-4E39-B4F2-97CE17CAB9DF}" type="presOf" srcId="{29D62725-D38F-4841-B863-A11671CCE8AB}" destId="{9C1F3344-06B5-46F8-BADD-0D620099605A}" srcOrd="0" destOrd="0" presId="urn:microsoft.com/office/officeart/2005/8/layout/chevron2"/>
    <dgm:cxn modelId="{AA2CD2D2-7C99-4C03-BE14-CEAAFC6DFFBC}" srcId="{DC9045A4-581A-4A8D-8B3B-61530A5CF4D4}" destId="{C35389AE-7B1C-488B-817A-F4E762884A5E}" srcOrd="0" destOrd="0" parTransId="{A386C4B8-4460-4ED2-8784-9AA792D6E1C3}" sibTransId="{627853D1-2F9A-4F74-BD49-2F3F59F366CE}"/>
    <dgm:cxn modelId="{9F34A2D9-C376-47AA-8C12-E38311FFDEAE}" srcId="{29D62725-D38F-4841-B863-A11671CCE8AB}" destId="{38368E30-20C8-4720-8F58-E0B081F865E7}" srcOrd="0" destOrd="0" parTransId="{F0A8B050-9FAC-41A7-93DB-67A9690666CE}" sibTransId="{73423743-AC5A-4939-B67F-F2871F45B186}"/>
    <dgm:cxn modelId="{F20401E2-E93D-4B6E-A822-89ACFB14FEEA}" type="presOf" srcId="{0A749DAC-0E98-4357-9DA1-85C906968F73}" destId="{6E558925-EFA5-46FC-8BC0-A7F9B023FF71}" srcOrd="0" destOrd="0" presId="urn:microsoft.com/office/officeart/2005/8/layout/chevron2"/>
    <dgm:cxn modelId="{4FC359A5-7239-47D8-A61E-4727112541A3}" type="presParOf" srcId="{1633B135-9B43-4D5E-AFE5-D3EE55D58B46}" destId="{AA15B66C-8E73-4AFD-B970-219B002823F9}" srcOrd="0" destOrd="0" presId="urn:microsoft.com/office/officeart/2005/8/layout/chevron2"/>
    <dgm:cxn modelId="{0330FCF1-7A13-46C4-B253-2A712682BF32}" type="presParOf" srcId="{AA15B66C-8E73-4AFD-B970-219B002823F9}" destId="{6798551E-D33D-4C70-8572-11AB0FC9FE7C}" srcOrd="0" destOrd="0" presId="urn:microsoft.com/office/officeart/2005/8/layout/chevron2"/>
    <dgm:cxn modelId="{6CB9C189-EB66-4CAD-8E2D-2E51084EA957}" type="presParOf" srcId="{AA15B66C-8E73-4AFD-B970-219B002823F9}" destId="{31550953-101B-44A2-93A0-DFFAE7D45F23}" srcOrd="1" destOrd="0" presId="urn:microsoft.com/office/officeart/2005/8/layout/chevron2"/>
    <dgm:cxn modelId="{0AEA50EA-F6D2-4FFD-B8D3-ABF07639C637}" type="presParOf" srcId="{1633B135-9B43-4D5E-AFE5-D3EE55D58B46}" destId="{67AB96BD-A857-4792-894C-5908516DB746}" srcOrd="1" destOrd="0" presId="urn:microsoft.com/office/officeart/2005/8/layout/chevron2"/>
    <dgm:cxn modelId="{E0C6AA8C-7F79-4DFD-8C24-F420BAA6F39B}" type="presParOf" srcId="{1633B135-9B43-4D5E-AFE5-D3EE55D58B46}" destId="{E8295028-0C6E-4FC3-A877-C037FEB0C498}" srcOrd="2" destOrd="0" presId="urn:microsoft.com/office/officeart/2005/8/layout/chevron2"/>
    <dgm:cxn modelId="{7F562008-89C1-4163-8F9A-B024D685FD53}" type="presParOf" srcId="{E8295028-0C6E-4FC3-A877-C037FEB0C498}" destId="{9C1F3344-06B5-46F8-BADD-0D620099605A}" srcOrd="0" destOrd="0" presId="urn:microsoft.com/office/officeart/2005/8/layout/chevron2"/>
    <dgm:cxn modelId="{0AD5C504-0A6B-4477-BD36-76C60B91523F}" type="presParOf" srcId="{E8295028-0C6E-4FC3-A877-C037FEB0C498}" destId="{29D5665D-369F-4DBE-9D75-23537FE4EAB9}" srcOrd="1" destOrd="0" presId="urn:microsoft.com/office/officeart/2005/8/layout/chevron2"/>
    <dgm:cxn modelId="{C67292DB-433C-4CCD-BD61-332649A39368}" type="presParOf" srcId="{1633B135-9B43-4D5E-AFE5-D3EE55D58B46}" destId="{96751EA1-5FE6-4DB9-999B-892F6BBA6BAF}" srcOrd="3" destOrd="0" presId="urn:microsoft.com/office/officeart/2005/8/layout/chevron2"/>
    <dgm:cxn modelId="{9244A01A-B430-40DE-98AE-C4CAB92A8C3A}" type="presParOf" srcId="{1633B135-9B43-4D5E-AFE5-D3EE55D58B46}" destId="{12FB9EBD-2492-49D4-87BB-F55648A4B59D}" srcOrd="4" destOrd="0" presId="urn:microsoft.com/office/officeart/2005/8/layout/chevron2"/>
    <dgm:cxn modelId="{A8A6C6AC-AB2F-4089-97DB-1AD8901BDA93}" type="presParOf" srcId="{12FB9EBD-2492-49D4-87BB-F55648A4B59D}" destId="{6EC0E50C-3918-4935-9CCD-2C4513504BF1}" srcOrd="0" destOrd="0" presId="urn:microsoft.com/office/officeart/2005/8/layout/chevron2"/>
    <dgm:cxn modelId="{6D562368-A9C6-4794-A087-689EB115B010}" type="presParOf" srcId="{12FB9EBD-2492-49D4-87BB-F55648A4B59D}" destId="{6FE9DB43-34A6-4C6E-B522-4C69729DFD1B}" srcOrd="1" destOrd="0" presId="urn:microsoft.com/office/officeart/2005/8/layout/chevron2"/>
    <dgm:cxn modelId="{B06DFA1D-765C-49BC-8CD6-D3A5A5DD42CB}" type="presParOf" srcId="{1633B135-9B43-4D5E-AFE5-D3EE55D58B46}" destId="{4F69CDBF-3C3A-4FB0-BAC7-963E5433B2A8}" srcOrd="5" destOrd="0" presId="urn:microsoft.com/office/officeart/2005/8/layout/chevron2"/>
    <dgm:cxn modelId="{0F07E996-3F4D-43A0-A53C-FA1C085C9A17}" type="presParOf" srcId="{1633B135-9B43-4D5E-AFE5-D3EE55D58B46}" destId="{3056ACC1-3DFC-4336-B5FC-6623106C6BFE}" srcOrd="6" destOrd="0" presId="urn:microsoft.com/office/officeart/2005/8/layout/chevron2"/>
    <dgm:cxn modelId="{6427AEBA-E78E-4551-B562-EDB19F7DA6C7}" type="presParOf" srcId="{3056ACC1-3DFC-4336-B5FC-6623106C6BFE}" destId="{6E558925-EFA5-46FC-8BC0-A7F9B023FF71}" srcOrd="0" destOrd="0" presId="urn:microsoft.com/office/officeart/2005/8/layout/chevron2"/>
    <dgm:cxn modelId="{9A4B2350-CD1D-4687-AAB8-BF7C590066BE}" type="presParOf" srcId="{3056ACC1-3DFC-4336-B5FC-6623106C6BFE}" destId="{5CD118E7-8731-47C6-B6FB-457586D1AF5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D8BEAC-4E22-4F92-B1A0-A22BECA28169}">
      <dsp:nvSpPr>
        <dsp:cNvPr id="0" name=""/>
        <dsp:cNvSpPr/>
      </dsp:nvSpPr>
      <dsp:spPr>
        <a:xfrm rot="5400000">
          <a:off x="4179432" y="-1618999"/>
          <a:ext cx="888131" cy="4351527"/>
        </a:xfrm>
        <a:prstGeom prst="round2Same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H</a:t>
          </a:r>
          <a:r>
            <a:rPr lang="en-US" sz="1200" kern="1200" dirty="0">
              <a:solidFill>
                <a:schemeClr val="tx1"/>
              </a:solidFill>
              <a:effectLst/>
              <a:latin typeface="Google Sans Text"/>
            </a:rPr>
            <a:t>ow can we use our current inventory data to strategically price vehicles, prioritize high-value purchases, and maximize profit margins?</a:t>
          </a:r>
          <a:endParaRPr lang="en-US" sz="1200" kern="1200" dirty="0"/>
        </a:p>
      </dsp:txBody>
      <dsp:txXfrm rot="-5400000">
        <a:off x="2447735" y="156053"/>
        <a:ext cx="4308172" cy="801421"/>
      </dsp:txXfrm>
    </dsp:sp>
    <dsp:sp modelId="{7515CBCE-86FF-449A-8B02-3FAF0CFE3275}">
      <dsp:nvSpPr>
        <dsp:cNvPr id="0" name=""/>
        <dsp:cNvSpPr/>
      </dsp:nvSpPr>
      <dsp:spPr>
        <a:xfrm>
          <a:off x="0" y="1682"/>
          <a:ext cx="2447734" cy="1110164"/>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b="1" kern="1200" dirty="0">
              <a:solidFill>
                <a:schemeClr val="tx1"/>
              </a:solidFill>
              <a:effectLst/>
              <a:latin typeface="Google Sans Text"/>
            </a:rPr>
            <a:t>Question</a:t>
          </a:r>
          <a:endParaRPr lang="en-US" sz="3100" kern="1200" dirty="0"/>
        </a:p>
      </dsp:txBody>
      <dsp:txXfrm>
        <a:off x="54194" y="55876"/>
        <a:ext cx="2339346" cy="1001776"/>
      </dsp:txXfrm>
    </dsp:sp>
    <dsp:sp modelId="{39A1CA86-CA30-4367-85FD-2270BDEE82DB}">
      <dsp:nvSpPr>
        <dsp:cNvPr id="0" name=""/>
        <dsp:cNvSpPr/>
      </dsp:nvSpPr>
      <dsp:spPr>
        <a:xfrm rot="5400000">
          <a:off x="4179432" y="-453326"/>
          <a:ext cx="888131" cy="4351527"/>
        </a:xfrm>
        <a:prstGeom prst="round2Same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chemeClr val="tx1"/>
              </a:solidFill>
              <a:effectLst/>
              <a:latin typeface="Google Sans Text"/>
            </a:rPr>
            <a:t>To provide dealership management with actionable, data-backed insights on which vehicle attributes (drive type, condition, mileage) are the strongest drivers of price and value.</a:t>
          </a:r>
          <a:endParaRPr lang="en-US" sz="1200" kern="1200" dirty="0"/>
        </a:p>
      </dsp:txBody>
      <dsp:txXfrm rot="-5400000">
        <a:off x="2447735" y="1321726"/>
        <a:ext cx="4308172" cy="801421"/>
      </dsp:txXfrm>
    </dsp:sp>
    <dsp:sp modelId="{DE57AD5B-448E-4DD7-B5A1-2F119D6567E2}">
      <dsp:nvSpPr>
        <dsp:cNvPr id="0" name=""/>
        <dsp:cNvSpPr/>
      </dsp:nvSpPr>
      <dsp:spPr>
        <a:xfrm>
          <a:off x="0" y="1167355"/>
          <a:ext cx="2447734" cy="1110164"/>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b="1" kern="1200" dirty="0">
              <a:solidFill>
                <a:schemeClr val="tx1"/>
              </a:solidFill>
              <a:effectLst/>
              <a:latin typeface="Google Sans Text"/>
            </a:rPr>
            <a:t>Purpose</a:t>
          </a:r>
          <a:endParaRPr lang="en-US" sz="3100" kern="1200" dirty="0"/>
        </a:p>
      </dsp:txBody>
      <dsp:txXfrm>
        <a:off x="54194" y="1221549"/>
        <a:ext cx="2339346" cy="1001776"/>
      </dsp:txXfrm>
    </dsp:sp>
    <dsp:sp modelId="{899F6CF7-D010-45C7-AB9A-1C1236F66280}">
      <dsp:nvSpPr>
        <dsp:cNvPr id="0" name=""/>
        <dsp:cNvSpPr/>
      </dsp:nvSpPr>
      <dsp:spPr>
        <a:xfrm rot="5400000">
          <a:off x="4179432" y="712346"/>
          <a:ext cx="888131" cy="4351527"/>
        </a:xfrm>
        <a:prstGeom prst="round2Same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solidFill>
                <a:schemeClr val="tx1"/>
              </a:solidFill>
              <a:effectLst/>
              <a:latin typeface="Google Sans Text"/>
            </a:rPr>
            <a:t>Dealerships: </a:t>
          </a:r>
          <a:r>
            <a:rPr lang="en-US" sz="1200" kern="1200" dirty="0">
              <a:solidFill>
                <a:schemeClr val="tx1"/>
              </a:solidFill>
              <a:effectLst/>
              <a:latin typeface="Google Sans Text"/>
            </a:rPr>
            <a:t>Better inventory purchasing and pricing decisions. </a:t>
          </a: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solidFill>
                <a:schemeClr val="tx1"/>
              </a:solidFill>
              <a:effectLst/>
              <a:latin typeface="Google Sans Text"/>
            </a:rPr>
            <a:t>Sales Team:</a:t>
          </a:r>
          <a:r>
            <a:rPr lang="en-US" sz="1200" kern="1200" dirty="0">
              <a:solidFill>
                <a:schemeClr val="tx1"/>
              </a:solidFill>
              <a:effectLst/>
              <a:latin typeface="Google Sans Text"/>
            </a:rPr>
            <a:t> Targeted marketing and accurate valuation.</a:t>
          </a: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solidFill>
                <a:schemeClr val="tx1"/>
              </a:solidFill>
              <a:effectLst/>
              <a:latin typeface="Google Sans Text"/>
            </a:rPr>
            <a:t>Finance/Accounting:</a:t>
          </a:r>
          <a:r>
            <a:rPr lang="en-US" sz="1200" kern="1200" dirty="0">
              <a:solidFill>
                <a:schemeClr val="tx1"/>
              </a:solidFill>
              <a:effectLst/>
              <a:latin typeface="Google Sans Text"/>
            </a:rPr>
            <a:t> Improved forecasting and profit realization.</a:t>
          </a:r>
          <a:endParaRPr lang="en-US" sz="1200" kern="1200" dirty="0"/>
        </a:p>
      </dsp:txBody>
      <dsp:txXfrm rot="-5400000">
        <a:off x="2447735" y="2487399"/>
        <a:ext cx="4308172" cy="801421"/>
      </dsp:txXfrm>
    </dsp:sp>
    <dsp:sp modelId="{CC6BC760-D540-4E18-8A65-9B9537FA25D8}">
      <dsp:nvSpPr>
        <dsp:cNvPr id="0" name=""/>
        <dsp:cNvSpPr/>
      </dsp:nvSpPr>
      <dsp:spPr>
        <a:xfrm>
          <a:off x="0" y="2333028"/>
          <a:ext cx="2447734" cy="1110164"/>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b="1" kern="1200" dirty="0">
              <a:solidFill>
                <a:schemeClr val="tx1"/>
              </a:solidFill>
              <a:effectLst/>
              <a:latin typeface="Google Sans Text"/>
            </a:rPr>
            <a:t>Who Benefits?</a:t>
          </a:r>
          <a:endParaRPr lang="en-US" sz="3100" kern="1200" dirty="0"/>
        </a:p>
      </dsp:txBody>
      <dsp:txXfrm>
        <a:off x="54194" y="2387222"/>
        <a:ext cx="2339346" cy="10017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465DDB-F27F-4A8E-958A-9770DBD748A1}">
      <dsp:nvSpPr>
        <dsp:cNvPr id="0" name=""/>
        <dsp:cNvSpPr/>
      </dsp:nvSpPr>
      <dsp:spPr>
        <a:xfrm rot="5400000">
          <a:off x="-141706" y="143244"/>
          <a:ext cx="942557" cy="659144"/>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1F1F1F"/>
              </a:solidFill>
              <a:effectLst/>
              <a:latin typeface="Google Sans Text"/>
            </a:rPr>
            <a:t>Data Source</a:t>
          </a:r>
          <a:endParaRPr lang="en-US" sz="900" kern="1200" dirty="0"/>
        </a:p>
      </dsp:txBody>
      <dsp:txXfrm rot="-5400000">
        <a:off x="1" y="331109"/>
        <a:ext cx="659144" cy="283413"/>
      </dsp:txXfrm>
    </dsp:sp>
    <dsp:sp modelId="{7D3B61C3-9F89-4ECD-A891-CEE09ACA6609}">
      <dsp:nvSpPr>
        <dsp:cNvPr id="0" name=""/>
        <dsp:cNvSpPr/>
      </dsp:nvSpPr>
      <dsp:spPr>
        <a:xfrm rot="5400000">
          <a:off x="3423171" y="-2762028"/>
          <a:ext cx="612062" cy="6140117"/>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US" sz="1500" kern="1200" dirty="0">
              <a:solidFill>
                <a:schemeClr val="tx1"/>
              </a:solidFill>
              <a:latin typeface="+mj-lt"/>
            </a:rPr>
            <a:t>auto-Inventory-.csv </a:t>
          </a:r>
          <a:r>
            <a:rPr lang="en-US" sz="1500" kern="1200" dirty="0">
              <a:solidFill>
                <a:schemeClr val="tx1"/>
              </a:solidFill>
              <a:effectLst/>
              <a:latin typeface="+mj-lt"/>
            </a:rPr>
            <a:t>(CSV File)</a:t>
          </a:r>
          <a:endParaRPr lang="en-US" sz="1500" kern="1200" dirty="0">
            <a:solidFill>
              <a:schemeClr val="tx1"/>
            </a:solidFill>
            <a:latin typeface="+mj-lt"/>
          </a:endParaRPr>
        </a:p>
        <a:p>
          <a:pPr marL="114300" lvl="1" indent="-114300" algn="l" defTabSz="666750">
            <a:lnSpc>
              <a:spcPct val="90000"/>
            </a:lnSpc>
            <a:spcBef>
              <a:spcPct val="0"/>
            </a:spcBef>
            <a:spcAft>
              <a:spcPct val="15000"/>
            </a:spcAft>
            <a:buFont typeface="Arial" panose="020B0604020202020204" pitchFamily="34" charset="0"/>
            <a:buChar char="•"/>
          </a:pPr>
          <a:r>
            <a:rPr lang="en-US" sz="1500" kern="1200" dirty="0">
              <a:solidFill>
                <a:schemeClr val="tx1"/>
              </a:solidFill>
              <a:effectLst/>
              <a:latin typeface="+mj-lt"/>
            </a:rPr>
            <a:t>auto_inventory_cleaned.csv (cleaned CSV File)</a:t>
          </a:r>
          <a:endParaRPr lang="en-US" sz="1500" kern="1200" dirty="0">
            <a:solidFill>
              <a:schemeClr val="tx1"/>
            </a:solidFill>
            <a:latin typeface="+mj-lt"/>
          </a:endParaRPr>
        </a:p>
      </dsp:txBody>
      <dsp:txXfrm rot="-5400000">
        <a:off x="659144" y="31877"/>
        <a:ext cx="6110239" cy="552306"/>
      </dsp:txXfrm>
    </dsp:sp>
    <dsp:sp modelId="{5AA583BF-E5A4-4758-A291-1B46A52D8958}">
      <dsp:nvSpPr>
        <dsp:cNvPr id="0" name=""/>
        <dsp:cNvSpPr/>
      </dsp:nvSpPr>
      <dsp:spPr>
        <a:xfrm rot="5400000">
          <a:off x="-141245" y="936571"/>
          <a:ext cx="941634" cy="659144"/>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b="1" kern="1200">
              <a:solidFill>
                <a:srgbClr val="1F1F1F"/>
              </a:solidFill>
              <a:effectLst/>
              <a:latin typeface="Google Sans Text"/>
            </a:rPr>
            <a:t>Unit of Analysis</a:t>
          </a:r>
          <a:endParaRPr lang="en-US" sz="900" kern="1200" dirty="0">
            <a:solidFill>
              <a:srgbClr val="1F1F1F"/>
            </a:solidFill>
            <a:effectLst/>
            <a:latin typeface="Google Sans Text"/>
          </a:endParaRPr>
        </a:p>
      </dsp:txBody>
      <dsp:txXfrm rot="-5400000">
        <a:off x="0" y="1124898"/>
        <a:ext cx="659144" cy="282490"/>
      </dsp:txXfrm>
    </dsp:sp>
    <dsp:sp modelId="{B4A2ABA5-313E-41BF-A03D-A0A659FBF583}">
      <dsp:nvSpPr>
        <dsp:cNvPr id="0" name=""/>
        <dsp:cNvSpPr/>
      </dsp:nvSpPr>
      <dsp:spPr>
        <a:xfrm rot="5400000">
          <a:off x="3423171" y="-1968701"/>
          <a:ext cx="612062" cy="6140117"/>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US" sz="1500" b="0" kern="1200">
              <a:solidFill>
                <a:srgbClr val="1F1F1F"/>
              </a:solidFill>
              <a:effectLst/>
              <a:latin typeface="Google Sans Text"/>
            </a:rPr>
            <a:t>Each individual vehicle (a single row in the dataset).</a:t>
          </a:r>
          <a:endParaRPr lang="en-US" sz="1500" b="0" kern="1200"/>
        </a:p>
      </dsp:txBody>
      <dsp:txXfrm rot="-5400000">
        <a:off x="659144" y="825204"/>
        <a:ext cx="6110239" cy="552306"/>
      </dsp:txXfrm>
    </dsp:sp>
    <dsp:sp modelId="{C1924E73-4BF9-4091-8C70-5F5E3A8FC14A}">
      <dsp:nvSpPr>
        <dsp:cNvPr id="0" name=""/>
        <dsp:cNvSpPr/>
      </dsp:nvSpPr>
      <dsp:spPr>
        <a:xfrm rot="5400000">
          <a:off x="-141245" y="1729437"/>
          <a:ext cx="941634" cy="659144"/>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1F1F1F"/>
              </a:solidFill>
              <a:effectLst/>
              <a:latin typeface="Google Sans Text"/>
            </a:rPr>
            <a:t>Key Features</a:t>
          </a:r>
          <a:endParaRPr lang="en-US" sz="900" kern="1200" dirty="0"/>
        </a:p>
      </dsp:txBody>
      <dsp:txXfrm rot="-5400000">
        <a:off x="0" y="1917764"/>
        <a:ext cx="659144" cy="282490"/>
      </dsp:txXfrm>
    </dsp:sp>
    <dsp:sp modelId="{37AADAF3-24E0-4922-8FEB-DA982519A18B}">
      <dsp:nvSpPr>
        <dsp:cNvPr id="0" name=""/>
        <dsp:cNvSpPr/>
      </dsp:nvSpPr>
      <dsp:spPr>
        <a:xfrm rot="5400000">
          <a:off x="3423171" y="-1175835"/>
          <a:ext cx="612062" cy="6140117"/>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US" sz="1500" kern="1200" dirty="0">
              <a:solidFill>
                <a:srgbClr val="1F1F1F"/>
              </a:solidFill>
              <a:effectLst/>
              <a:latin typeface="Google Sans Text"/>
            </a:rPr>
            <a:t>Price, Mileage, Model Year, Drive Type, Condition (New/Used/Certified) </a:t>
          </a:r>
          <a:endParaRPr lang="en-US" sz="1500" kern="1200" dirty="0"/>
        </a:p>
        <a:p>
          <a:pPr marL="114300" lvl="1" indent="-114300" algn="l" defTabSz="666750">
            <a:lnSpc>
              <a:spcPct val="90000"/>
            </a:lnSpc>
            <a:spcBef>
              <a:spcPct val="0"/>
            </a:spcBef>
            <a:spcAft>
              <a:spcPct val="15000"/>
            </a:spcAft>
            <a:buFont typeface="Arial" panose="020B0604020202020204" pitchFamily="34" charset="0"/>
            <a:buChar char="•"/>
          </a:pPr>
          <a:r>
            <a:rPr lang="en-US" sz="1500" kern="1200" dirty="0">
              <a:solidFill>
                <a:srgbClr val="1F1F1F"/>
              </a:solidFill>
              <a:effectLst/>
              <a:latin typeface="Google Sans Text"/>
            </a:rPr>
            <a:t>Condition Report </a:t>
          </a:r>
          <a:endParaRPr lang="en-US" sz="1500" kern="1200" dirty="0"/>
        </a:p>
      </dsp:txBody>
      <dsp:txXfrm rot="-5400000">
        <a:off x="659144" y="1618070"/>
        <a:ext cx="6110239" cy="552306"/>
      </dsp:txXfrm>
    </dsp:sp>
    <dsp:sp modelId="{5BC8C0F1-DDFC-4F5B-98C7-A34163853BAB}">
      <dsp:nvSpPr>
        <dsp:cNvPr id="0" name=""/>
        <dsp:cNvSpPr/>
      </dsp:nvSpPr>
      <dsp:spPr>
        <a:xfrm rot="5400000">
          <a:off x="-176984" y="2750721"/>
          <a:ext cx="1013113" cy="659144"/>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1F1F1F"/>
              </a:solidFill>
              <a:effectLst/>
              <a:latin typeface="Google Sans Text"/>
            </a:rPr>
            <a:t>Tools Used</a:t>
          </a:r>
          <a:endParaRPr lang="en-US" sz="900" kern="1200" dirty="0"/>
        </a:p>
      </dsp:txBody>
      <dsp:txXfrm rot="-5400000">
        <a:off x="1" y="2903308"/>
        <a:ext cx="659144" cy="353969"/>
      </dsp:txXfrm>
    </dsp:sp>
    <dsp:sp modelId="{640A1647-FEC1-41EB-B7CA-FB67AA645F60}">
      <dsp:nvSpPr>
        <dsp:cNvPr id="0" name=""/>
        <dsp:cNvSpPr/>
      </dsp:nvSpPr>
      <dsp:spPr>
        <a:xfrm rot="5400000">
          <a:off x="3194753" y="-154551"/>
          <a:ext cx="1068899" cy="6140117"/>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solidFill>
                <a:srgbClr val="1F1F1F"/>
              </a:solidFill>
              <a:effectLst/>
              <a:latin typeface="Google Sans Text"/>
            </a:rPr>
            <a:t>Python:</a:t>
          </a:r>
          <a:r>
            <a:rPr lang="en-US" sz="1200" kern="1200" dirty="0">
              <a:solidFill>
                <a:srgbClr val="1F1F1F"/>
              </a:solidFill>
              <a:effectLst/>
              <a:latin typeface="Google Sans Text"/>
            </a:rPr>
            <a:t> The core language for analysis. </a:t>
          </a: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err="1">
              <a:solidFill>
                <a:srgbClr val="1F1F1F"/>
              </a:solidFill>
              <a:effectLst/>
              <a:latin typeface="Google Sans Text"/>
            </a:rPr>
            <a:t>Jupyter</a:t>
          </a:r>
          <a:r>
            <a:rPr lang="en-US" sz="1200" b="1" kern="1200" dirty="0">
              <a:solidFill>
                <a:srgbClr val="1F1F1F"/>
              </a:solidFill>
              <a:effectLst/>
              <a:latin typeface="Google Sans Text"/>
            </a:rPr>
            <a:t> Notebooks:</a:t>
          </a:r>
          <a:r>
            <a:rPr lang="en-US" sz="1200" kern="1200" dirty="0">
              <a:solidFill>
                <a:srgbClr val="1F1F1F"/>
              </a:solidFill>
              <a:effectLst/>
              <a:latin typeface="Google Sans Text"/>
            </a:rPr>
            <a:t> Environment for executing and documenting code. </a:t>
          </a: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rgbClr val="1F1F1F"/>
              </a:solidFill>
              <a:effectLst/>
              <a:latin typeface="Google Sans Text"/>
            </a:rPr>
            <a:t> </a:t>
          </a:r>
          <a:r>
            <a:rPr lang="en-US" sz="1200" b="1" kern="1200" dirty="0">
              <a:solidFill>
                <a:srgbClr val="444746"/>
              </a:solidFill>
              <a:effectLst/>
              <a:latin typeface="Google Sans Text"/>
            </a:rPr>
            <a:t>pandas</a:t>
          </a:r>
          <a:r>
            <a:rPr lang="en-US" sz="1200" b="1" kern="1200" dirty="0">
              <a:solidFill>
                <a:srgbClr val="1F1F1F"/>
              </a:solidFill>
              <a:effectLst/>
              <a:latin typeface="Google Sans Text"/>
            </a:rPr>
            <a:t>:</a:t>
          </a:r>
          <a:r>
            <a:rPr lang="en-US" sz="1200" kern="1200" dirty="0">
              <a:solidFill>
                <a:srgbClr val="1F1F1F"/>
              </a:solidFill>
              <a:effectLst/>
              <a:latin typeface="Google Sans Text"/>
            </a:rPr>
            <a:t> Data manipulation and cleaning.</a:t>
          </a: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rgbClr val="1F1F1F"/>
              </a:solidFill>
              <a:effectLst/>
              <a:latin typeface="Google Sans Text"/>
            </a:rPr>
            <a:t> </a:t>
          </a:r>
          <a:r>
            <a:rPr lang="en-US" sz="1200" b="1" kern="1200" dirty="0">
              <a:solidFill>
                <a:srgbClr val="444746"/>
              </a:solidFill>
              <a:effectLst/>
              <a:latin typeface="Google Sans Text"/>
            </a:rPr>
            <a:t>matplotlib</a:t>
          </a:r>
          <a:r>
            <a:rPr lang="en-US" sz="1200" b="1" kern="1200" dirty="0">
              <a:solidFill>
                <a:srgbClr val="1F1F1F"/>
              </a:solidFill>
              <a:effectLst/>
              <a:latin typeface="Google Sans Text"/>
            </a:rPr>
            <a:t> &amp; </a:t>
          </a:r>
          <a:r>
            <a:rPr lang="en-US" sz="1200" b="1" kern="1200" dirty="0">
              <a:solidFill>
                <a:srgbClr val="444746"/>
              </a:solidFill>
              <a:effectLst/>
              <a:latin typeface="Google Sans Text"/>
            </a:rPr>
            <a:t>seaborn</a:t>
          </a:r>
          <a:r>
            <a:rPr lang="en-US" sz="1200" b="1" kern="1200" dirty="0">
              <a:solidFill>
                <a:srgbClr val="1F1F1F"/>
              </a:solidFill>
              <a:effectLst/>
              <a:latin typeface="Google Sans Text"/>
            </a:rPr>
            <a:t>:</a:t>
          </a:r>
          <a:r>
            <a:rPr lang="en-US" sz="1200" kern="1200" dirty="0">
              <a:solidFill>
                <a:srgbClr val="1F1F1F"/>
              </a:solidFill>
              <a:effectLst/>
              <a:latin typeface="Google Sans Text"/>
            </a:rPr>
            <a:t> Visualization and statistical graphing.</a:t>
          </a:r>
          <a:endParaRPr lang="en-US" sz="1200" kern="1200" dirty="0"/>
        </a:p>
      </dsp:txBody>
      <dsp:txXfrm rot="-5400000">
        <a:off x="659145" y="2433236"/>
        <a:ext cx="6087938" cy="9645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98551E-D33D-4C70-8572-11AB0FC9FE7C}">
      <dsp:nvSpPr>
        <dsp:cNvPr id="0" name=""/>
        <dsp:cNvSpPr/>
      </dsp:nvSpPr>
      <dsp:spPr>
        <a:xfrm rot="5400000">
          <a:off x="-146087" y="147857"/>
          <a:ext cx="973917" cy="681742"/>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rgbClr val="1F1F1F"/>
              </a:solidFill>
              <a:effectLst/>
              <a:latin typeface="Google Sans Text"/>
            </a:rPr>
            <a:t>New Question 1</a:t>
          </a:r>
          <a:endParaRPr lang="en-US" sz="1000" kern="1200" dirty="0"/>
        </a:p>
      </dsp:txBody>
      <dsp:txXfrm rot="-5400000">
        <a:off x="1" y="342640"/>
        <a:ext cx="681742" cy="292175"/>
      </dsp:txXfrm>
    </dsp:sp>
    <dsp:sp modelId="{31550953-101B-44A2-93A0-DFFAE7D45F23}">
      <dsp:nvSpPr>
        <dsp:cNvPr id="0" name=""/>
        <dsp:cNvSpPr/>
      </dsp:nvSpPr>
      <dsp:spPr>
        <a:xfrm rot="5400000">
          <a:off x="3423978" y="-2740466"/>
          <a:ext cx="633046" cy="6117519"/>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None/>
          </a:pPr>
          <a:r>
            <a:rPr lang="en-US" sz="1600" b="1" kern="1200" dirty="0">
              <a:solidFill>
                <a:srgbClr val="1F1F1F"/>
              </a:solidFill>
              <a:effectLst/>
              <a:latin typeface="Google Sans Text"/>
            </a:rPr>
            <a:t>Evaluate  Condition Impact:</a:t>
          </a:r>
          <a:r>
            <a:rPr lang="en-US" sz="1600" kern="1200" dirty="0">
              <a:solidFill>
                <a:srgbClr val="1F1F1F"/>
              </a:solidFill>
              <a:effectLst/>
              <a:latin typeface="Google Sans Text"/>
            </a:rPr>
            <a:t> How much does each type of damage (e.g., mechanical vs. cosmetic) depreciate a vehicle?</a:t>
          </a:r>
          <a:endParaRPr lang="en-US" sz="1600" kern="1200" dirty="0"/>
        </a:p>
      </dsp:txBody>
      <dsp:txXfrm rot="-5400000">
        <a:off x="681742" y="32673"/>
        <a:ext cx="6086616" cy="571240"/>
      </dsp:txXfrm>
    </dsp:sp>
    <dsp:sp modelId="{9C1F3344-06B5-46F8-BADD-0D620099605A}">
      <dsp:nvSpPr>
        <dsp:cNvPr id="0" name=""/>
        <dsp:cNvSpPr/>
      </dsp:nvSpPr>
      <dsp:spPr>
        <a:xfrm rot="5400000">
          <a:off x="-146087" y="970330"/>
          <a:ext cx="973917" cy="681742"/>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rgbClr val="1F1F1F"/>
              </a:solidFill>
              <a:effectLst/>
              <a:latin typeface="Google Sans Text"/>
            </a:rPr>
            <a:t>Next Step 1</a:t>
          </a:r>
          <a:endParaRPr lang="en-US" sz="1000" kern="1200" dirty="0"/>
        </a:p>
      </dsp:txBody>
      <dsp:txXfrm rot="-5400000">
        <a:off x="1" y="1165113"/>
        <a:ext cx="681742" cy="292175"/>
      </dsp:txXfrm>
    </dsp:sp>
    <dsp:sp modelId="{29D5665D-369F-4DBE-9D75-23537FE4EAB9}">
      <dsp:nvSpPr>
        <dsp:cNvPr id="0" name=""/>
        <dsp:cNvSpPr/>
      </dsp:nvSpPr>
      <dsp:spPr>
        <a:xfrm rot="5400000">
          <a:off x="3423978" y="-1917994"/>
          <a:ext cx="633046" cy="6117519"/>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None/>
          </a:pPr>
          <a:r>
            <a:rPr lang="en-US" sz="1600" kern="1200" dirty="0">
              <a:solidFill>
                <a:srgbClr val="1F1F1F"/>
              </a:solidFill>
              <a:effectLst/>
              <a:latin typeface="Google Sans Text"/>
            </a:rPr>
            <a:t>Categorize and analyze the specific issues mentioned in "bad condition reports" to guide the most profitable repair investments.</a:t>
          </a:r>
          <a:endParaRPr lang="en-US" sz="1600" kern="1200" dirty="0"/>
        </a:p>
      </dsp:txBody>
      <dsp:txXfrm rot="-5400000">
        <a:off x="681742" y="855145"/>
        <a:ext cx="6086616" cy="571240"/>
      </dsp:txXfrm>
    </dsp:sp>
    <dsp:sp modelId="{6EC0E50C-3918-4935-9CCD-2C4513504BF1}">
      <dsp:nvSpPr>
        <dsp:cNvPr id="0" name=""/>
        <dsp:cNvSpPr/>
      </dsp:nvSpPr>
      <dsp:spPr>
        <a:xfrm rot="5400000">
          <a:off x="-146087" y="1792802"/>
          <a:ext cx="973917" cy="681742"/>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rgbClr val="1F1F1F"/>
              </a:solidFill>
              <a:effectLst/>
              <a:latin typeface="Google Sans Text"/>
            </a:rPr>
            <a:t>New Question 2</a:t>
          </a:r>
          <a:endParaRPr lang="en-US" sz="1000" kern="1200" dirty="0"/>
        </a:p>
      </dsp:txBody>
      <dsp:txXfrm rot="-5400000">
        <a:off x="1" y="1987585"/>
        <a:ext cx="681742" cy="292175"/>
      </dsp:txXfrm>
    </dsp:sp>
    <dsp:sp modelId="{6FE9DB43-34A6-4C6E-B522-4C69729DFD1B}">
      <dsp:nvSpPr>
        <dsp:cNvPr id="0" name=""/>
        <dsp:cNvSpPr/>
      </dsp:nvSpPr>
      <dsp:spPr>
        <a:xfrm rot="5400000">
          <a:off x="3423978" y="-1076669"/>
          <a:ext cx="633046" cy="6117519"/>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None/>
          </a:pPr>
          <a:r>
            <a:rPr lang="en-US" sz="1600" b="1" kern="1200" dirty="0">
              <a:solidFill>
                <a:srgbClr val="1F1F1F"/>
              </a:solidFill>
              <a:effectLst/>
              <a:latin typeface="Google Sans Text"/>
            </a:rPr>
            <a:t>Profitability by Segment:</a:t>
          </a:r>
          <a:r>
            <a:rPr lang="en-US" sz="1600" kern="1200" dirty="0">
              <a:solidFill>
                <a:srgbClr val="1F1F1F"/>
              </a:solidFill>
              <a:effectLst/>
              <a:latin typeface="Google Sans Text"/>
            </a:rPr>
            <a:t> Which manufacturers and body styles (SUVs vs. Trucks) are the most/least profitable vehicles for our dealership?</a:t>
          </a:r>
          <a:endParaRPr lang="en-US" sz="1600" kern="1200" dirty="0"/>
        </a:p>
      </dsp:txBody>
      <dsp:txXfrm rot="-5400000">
        <a:off x="681742" y="1696470"/>
        <a:ext cx="6086616" cy="571240"/>
      </dsp:txXfrm>
    </dsp:sp>
    <dsp:sp modelId="{6E558925-EFA5-46FC-8BC0-A7F9B023FF71}">
      <dsp:nvSpPr>
        <dsp:cNvPr id="0" name=""/>
        <dsp:cNvSpPr/>
      </dsp:nvSpPr>
      <dsp:spPr>
        <a:xfrm rot="5400000">
          <a:off x="-146087" y="2615275"/>
          <a:ext cx="973917" cy="681742"/>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rgbClr val="1F1F1F"/>
              </a:solidFill>
              <a:effectLst/>
              <a:latin typeface="Google Sans Text"/>
            </a:rPr>
            <a:t>Next Step 2</a:t>
          </a:r>
          <a:endParaRPr lang="en-US" sz="1000" kern="1200" dirty="0">
            <a:solidFill>
              <a:srgbClr val="1F1F1F"/>
            </a:solidFill>
            <a:effectLst/>
            <a:latin typeface="Google Sans Text"/>
          </a:endParaRPr>
        </a:p>
      </dsp:txBody>
      <dsp:txXfrm rot="-5400000">
        <a:off x="1" y="2810058"/>
        <a:ext cx="681742" cy="292175"/>
      </dsp:txXfrm>
    </dsp:sp>
    <dsp:sp modelId="{5CD118E7-8731-47C6-B6FB-457586D1AF5B}">
      <dsp:nvSpPr>
        <dsp:cNvPr id="0" name=""/>
        <dsp:cNvSpPr/>
      </dsp:nvSpPr>
      <dsp:spPr>
        <a:xfrm rot="5400000">
          <a:off x="3423978" y="-244770"/>
          <a:ext cx="633046" cy="6117519"/>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solidFill>
                <a:srgbClr val="1F1F1F"/>
              </a:solidFill>
              <a:effectLst/>
              <a:latin typeface="Google Sans Text"/>
            </a:rPr>
            <a:t>Analyze average profit margins by manufacturer and body style.</a:t>
          </a:r>
          <a:endParaRPr lang="en-US" sz="1600" kern="1200" dirty="0"/>
        </a:p>
      </dsp:txBody>
      <dsp:txXfrm rot="-5400000">
        <a:off x="681742" y="2528369"/>
        <a:ext cx="6086616" cy="57124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S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7402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6" y="2354670"/>
            <a:ext cx="6595533"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93860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730052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7957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77389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2"/>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2"/>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962263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085012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0910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983461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218221"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88657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468621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29225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868754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7848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010884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47226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08518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19734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S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12/12/2025</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9225925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Car Dealership  Data Analysis</a:t>
            </a:r>
          </a:p>
        </p:txBody>
      </p:sp>
      <p:sp>
        <p:nvSpPr>
          <p:cNvPr id="3" name="Subtitle 2"/>
          <p:cNvSpPr>
            <a:spLocks noGrp="1"/>
          </p:cNvSpPr>
          <p:nvPr>
            <p:ph type="subTitle" idx="1"/>
          </p:nvPr>
        </p:nvSpPr>
        <p:spPr/>
        <p:txBody>
          <a:bodyPr/>
          <a:lstStyle/>
          <a:p>
            <a:r>
              <a:rPr b="1" dirty="0">
                <a:solidFill>
                  <a:schemeClr val="tx1"/>
                </a:solidFill>
              </a:rPr>
              <a:t>By Humza Khalid</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solidFill>
                  <a:schemeClr val="tx1"/>
                </a:solidFill>
                <a:latin typeface="Google Sans Text"/>
              </a:rPr>
              <a:t>Introduction</a:t>
            </a:r>
            <a:br>
              <a:rPr lang="en-US" sz="3200" b="1" dirty="0">
                <a:solidFill>
                  <a:schemeClr val="tx1"/>
                </a:solidFill>
                <a:latin typeface="Google Sans Text"/>
              </a:rPr>
            </a:br>
            <a:r>
              <a:rPr lang="en-US" sz="3200" b="1" dirty="0">
                <a:solidFill>
                  <a:schemeClr val="tx1"/>
                </a:solidFill>
                <a:latin typeface="Google Sans Text"/>
              </a:rPr>
              <a:t>The Core Challenge: Maximizing Inventory Value</a:t>
            </a:r>
            <a:endParaRPr lang="en-US" sz="3200" dirty="0">
              <a:solidFill>
                <a:schemeClr val="tx1"/>
              </a:solidFill>
              <a:latin typeface="Google Sans Text"/>
            </a:endParaRPr>
          </a:p>
        </p:txBody>
      </p:sp>
      <p:graphicFrame>
        <p:nvGraphicFramePr>
          <p:cNvPr id="7" name="Content Placeholder 6">
            <a:extLst>
              <a:ext uri="{FF2B5EF4-FFF2-40B4-BE49-F238E27FC236}">
                <a16:creationId xmlns:a16="http://schemas.microsoft.com/office/drawing/2014/main" id="{44A08657-92F9-9729-E2DD-089B8C5EB1F9}"/>
              </a:ext>
            </a:extLst>
          </p:cNvPr>
          <p:cNvGraphicFramePr>
            <a:graphicFrameLocks noGrp="1"/>
          </p:cNvGraphicFramePr>
          <p:nvPr>
            <p:ph idx="1"/>
            <p:extLst>
              <p:ext uri="{D42A27DB-BD31-4B8C-83A1-F6EECF244321}">
                <p14:modId xmlns:p14="http://schemas.microsoft.com/office/powerpoint/2010/main" val="3410812292"/>
              </p:ext>
            </p:extLst>
          </p:nvPr>
        </p:nvGraphicFramePr>
        <p:xfrm>
          <a:off x="1176338" y="2490788"/>
          <a:ext cx="6799262" cy="3444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F1F1F"/>
                </a:solidFill>
                <a:latin typeface="Google Sans Text"/>
              </a:rPr>
              <a:t>Methodology &amp; Data Sources</a:t>
            </a:r>
            <a:br>
              <a:rPr lang="en-US" dirty="0">
                <a:solidFill>
                  <a:srgbClr val="1F1F1F"/>
                </a:solidFill>
                <a:latin typeface="Google Sans Text"/>
              </a:rPr>
            </a:br>
            <a:endParaRPr dirty="0"/>
          </a:p>
        </p:txBody>
      </p:sp>
      <p:graphicFrame>
        <p:nvGraphicFramePr>
          <p:cNvPr id="6" name="Content Placeholder 5">
            <a:extLst>
              <a:ext uri="{FF2B5EF4-FFF2-40B4-BE49-F238E27FC236}">
                <a16:creationId xmlns:a16="http://schemas.microsoft.com/office/drawing/2014/main" id="{6B8DC8F6-8464-B077-B023-71FD50FA4D03}"/>
              </a:ext>
            </a:extLst>
          </p:cNvPr>
          <p:cNvGraphicFramePr>
            <a:graphicFrameLocks noGrp="1"/>
          </p:cNvGraphicFramePr>
          <p:nvPr>
            <p:ph idx="1"/>
            <p:extLst>
              <p:ext uri="{D42A27DB-BD31-4B8C-83A1-F6EECF244321}">
                <p14:modId xmlns:p14="http://schemas.microsoft.com/office/powerpoint/2010/main" val="222672906"/>
              </p:ext>
            </p:extLst>
          </p:nvPr>
        </p:nvGraphicFramePr>
        <p:xfrm>
          <a:off x="1176338" y="2347274"/>
          <a:ext cx="6799262" cy="3588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F36A0-2F4D-47BF-D0CA-7C4D5A1B6238}"/>
            </a:ext>
          </a:extLst>
        </p:cNvPr>
        <p:cNvGrpSpPr/>
        <p:nvPr/>
      </p:nvGrpSpPr>
      <p:grpSpPr>
        <a:xfrm>
          <a:off x="0" y="0"/>
          <a:ext cx="0" cy="0"/>
          <a:chOff x="0" y="0"/>
          <a:chExt cx="0" cy="0"/>
        </a:xfrm>
      </p:grpSpPr>
      <p:sp>
        <p:nvSpPr>
          <p:cNvPr id="9" name="Callout: Double Bent Line with Accent Bar 8">
            <a:extLst>
              <a:ext uri="{FF2B5EF4-FFF2-40B4-BE49-F238E27FC236}">
                <a16:creationId xmlns:a16="http://schemas.microsoft.com/office/drawing/2014/main" id="{1EFEB8FF-7DF7-F928-148C-2DDC32DFA5A6}"/>
              </a:ext>
            </a:extLst>
          </p:cNvPr>
          <p:cNvSpPr/>
          <p:nvPr/>
        </p:nvSpPr>
        <p:spPr>
          <a:xfrm>
            <a:off x="5553683" y="1512224"/>
            <a:ext cx="3364073" cy="4822588"/>
          </a:xfrm>
          <a:prstGeom prst="accentCallout3">
            <a:avLst>
              <a:gd name="adj1" fmla="val 27057"/>
              <a:gd name="adj2" fmla="val 62"/>
              <a:gd name="adj3" fmla="val 28548"/>
              <a:gd name="adj4" fmla="val -3334"/>
              <a:gd name="adj5" fmla="val 98083"/>
              <a:gd name="adj6" fmla="val -9260"/>
              <a:gd name="adj7" fmla="val 85487"/>
              <a:gd name="adj8" fmla="val -21420"/>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ctr"/>
            <a:r>
              <a:rPr lang="en-US" b="1" u="sng" dirty="0">
                <a:solidFill>
                  <a:schemeClr val="tx1"/>
                </a:solidFill>
              </a:rPr>
              <a:t>Analysis:</a:t>
            </a:r>
          </a:p>
          <a:p>
            <a:pPr fontAlgn="ctr"/>
            <a:r>
              <a:rPr lang="en-US" dirty="0">
                <a:solidFill>
                  <a:schemeClr val="tx1"/>
                </a:solidFill>
              </a:rPr>
              <a:t>This Chart indicates that vehicles with 4-wheel drive have the highest average price, while those with front-wheel drive have the lowest average price. Overall showing the drive system is a key factor in determining a vehicle's market value, mainly due to differences in producing cost, mechanical complexity, and the type of vehicle model it is.</a:t>
            </a:r>
          </a:p>
          <a:p>
            <a:pPr fontAlgn="ctr"/>
            <a:r>
              <a:rPr lang="en-US" b="1" u="sng" dirty="0">
                <a:solidFill>
                  <a:schemeClr val="tx1"/>
                </a:solidFill>
              </a:rPr>
              <a:t>Recommendation:</a:t>
            </a:r>
          </a:p>
          <a:p>
            <a:pPr fontAlgn="ctr"/>
            <a:r>
              <a:rPr lang="en-US" dirty="0">
                <a:solidFill>
                  <a:schemeClr val="tx1"/>
                </a:solidFill>
              </a:rPr>
              <a:t>Focus on advertising cars with 4 wheel  or 2-wheel rear drive train to increase Profit Potential</a:t>
            </a:r>
          </a:p>
          <a:p>
            <a:pPr fontAlgn="ctr"/>
            <a:endParaRPr lang="en-US" dirty="0">
              <a:solidFill>
                <a:schemeClr val="tx1"/>
              </a:solidFill>
            </a:endParaRPr>
          </a:p>
        </p:txBody>
      </p:sp>
      <p:pic>
        <p:nvPicPr>
          <p:cNvPr id="2" name="Picture 1" descr="avg_vehicle_price_by_drive_type.png">
            <a:extLst>
              <a:ext uri="{FF2B5EF4-FFF2-40B4-BE49-F238E27FC236}">
                <a16:creationId xmlns:a16="http://schemas.microsoft.com/office/drawing/2014/main" id="{D6591A93-CF81-1052-6E78-CA1B6C91BC1D}"/>
              </a:ext>
            </a:extLst>
          </p:cNvPr>
          <p:cNvPicPr>
            <a:picLocks noChangeAspect="1"/>
          </p:cNvPicPr>
          <p:nvPr/>
        </p:nvPicPr>
        <p:blipFill>
          <a:blip r:embed="rId2"/>
          <a:stretch>
            <a:fillRect/>
          </a:stretch>
        </p:blipFill>
        <p:spPr>
          <a:xfrm>
            <a:off x="131975" y="1641480"/>
            <a:ext cx="5354425" cy="4256359"/>
          </a:xfrm>
          <a:prstGeom prst="rect">
            <a:avLst/>
          </a:prstGeom>
        </p:spPr>
      </p:pic>
      <p:sp>
        <p:nvSpPr>
          <p:cNvPr id="4" name="TextBox 3">
            <a:extLst>
              <a:ext uri="{FF2B5EF4-FFF2-40B4-BE49-F238E27FC236}">
                <a16:creationId xmlns:a16="http://schemas.microsoft.com/office/drawing/2014/main" id="{AC873665-17A6-7FA6-05DD-A9AF5427182F}"/>
              </a:ext>
            </a:extLst>
          </p:cNvPr>
          <p:cNvSpPr txBox="1"/>
          <p:nvPr/>
        </p:nvSpPr>
        <p:spPr>
          <a:xfrm>
            <a:off x="367645" y="865893"/>
            <a:ext cx="8550111" cy="646331"/>
          </a:xfrm>
          <a:prstGeom prst="rect">
            <a:avLst/>
          </a:prstGeom>
          <a:noFill/>
        </p:spPr>
        <p:txBody>
          <a:bodyPr wrap="square" rtlCol="0">
            <a:spAutoFit/>
          </a:bodyPr>
          <a:lstStyle/>
          <a:p>
            <a:r>
              <a:rPr lang="en-US" b="1" dirty="0"/>
              <a:t>1)Does drive type (front-wheel, all-wheel, rear-wheel) influence average vehicle price?</a:t>
            </a:r>
          </a:p>
          <a:p>
            <a:endParaRPr lang="en-US" dirty="0"/>
          </a:p>
        </p:txBody>
      </p:sp>
    </p:spTree>
    <p:extLst>
      <p:ext uri="{BB962C8B-B14F-4D97-AF65-F5344CB8AC3E}">
        <p14:creationId xmlns:p14="http://schemas.microsoft.com/office/powerpoint/2010/main" val="362081177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98A4-1916-D3B9-5D64-1739909E1304}"/>
            </a:ext>
          </a:extLst>
        </p:cNvPr>
        <p:cNvGrpSpPr/>
        <p:nvPr/>
      </p:nvGrpSpPr>
      <p:grpSpPr>
        <a:xfrm>
          <a:off x="0" y="0"/>
          <a:ext cx="0" cy="0"/>
          <a:chOff x="0" y="0"/>
          <a:chExt cx="0" cy="0"/>
        </a:xfrm>
      </p:grpSpPr>
      <p:sp>
        <p:nvSpPr>
          <p:cNvPr id="9" name="Callout: Double Bent Line with Accent Bar 8">
            <a:extLst>
              <a:ext uri="{FF2B5EF4-FFF2-40B4-BE49-F238E27FC236}">
                <a16:creationId xmlns:a16="http://schemas.microsoft.com/office/drawing/2014/main" id="{8B26FDA5-121F-35F3-0C30-5F33A43BE411}"/>
              </a:ext>
            </a:extLst>
          </p:cNvPr>
          <p:cNvSpPr/>
          <p:nvPr/>
        </p:nvSpPr>
        <p:spPr>
          <a:xfrm>
            <a:off x="5896466" y="1847654"/>
            <a:ext cx="3068424" cy="3791931"/>
          </a:xfrm>
          <a:prstGeom prst="accentCallout3">
            <a:avLst>
              <a:gd name="adj1" fmla="val 27057"/>
              <a:gd name="adj2" fmla="val 62"/>
              <a:gd name="adj3" fmla="val 28548"/>
              <a:gd name="adj4" fmla="val -3334"/>
              <a:gd name="adj5" fmla="val 98296"/>
              <a:gd name="adj6" fmla="val -14198"/>
              <a:gd name="adj7" fmla="val 92728"/>
              <a:gd name="adj8" fmla="val -20926"/>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ctr"/>
            <a:r>
              <a:rPr lang="en-US" b="1" u="sng" dirty="0">
                <a:solidFill>
                  <a:schemeClr val="tx1"/>
                </a:solidFill>
              </a:rPr>
              <a:t>Analysis:</a:t>
            </a:r>
          </a:p>
          <a:p>
            <a:pPr fontAlgn="ctr"/>
            <a:r>
              <a:rPr lang="en-US" dirty="0">
                <a:solidFill>
                  <a:schemeClr val="tx1"/>
                </a:solidFill>
              </a:rPr>
              <a:t>This chart indicates that there is a noticeable difference in average price, with new vehicles being slightly more expensive than used vehicles.</a:t>
            </a:r>
          </a:p>
          <a:p>
            <a:pPr fontAlgn="ctr"/>
            <a:r>
              <a:rPr lang="en-US" b="1" u="sng" dirty="0">
                <a:solidFill>
                  <a:schemeClr val="tx1"/>
                </a:solidFill>
              </a:rPr>
              <a:t>Recommendation: </a:t>
            </a:r>
          </a:p>
          <a:p>
            <a:pPr fontAlgn="ctr"/>
            <a:r>
              <a:rPr lang="en-US" dirty="0">
                <a:solidFill>
                  <a:schemeClr val="tx1"/>
                </a:solidFill>
              </a:rPr>
              <a:t>Concentration on acquiring new vehicles rather than used vehicles to maximize growth potential.</a:t>
            </a:r>
          </a:p>
        </p:txBody>
      </p:sp>
      <p:pic>
        <p:nvPicPr>
          <p:cNvPr id="2" name="Picture 1" descr="avg_price_by_condition_bar.png">
            <a:extLst>
              <a:ext uri="{FF2B5EF4-FFF2-40B4-BE49-F238E27FC236}">
                <a16:creationId xmlns:a16="http://schemas.microsoft.com/office/drawing/2014/main" id="{396FDEEA-0FBC-A41A-933D-20B98D591D86}"/>
              </a:ext>
            </a:extLst>
          </p:cNvPr>
          <p:cNvPicPr>
            <a:picLocks noChangeAspect="1"/>
          </p:cNvPicPr>
          <p:nvPr/>
        </p:nvPicPr>
        <p:blipFill>
          <a:blip r:embed="rId2"/>
          <a:stretch>
            <a:fillRect/>
          </a:stretch>
        </p:blipFill>
        <p:spPr>
          <a:xfrm>
            <a:off x="556181" y="1847653"/>
            <a:ext cx="5147035" cy="3884417"/>
          </a:xfrm>
          <a:prstGeom prst="rect">
            <a:avLst/>
          </a:prstGeom>
        </p:spPr>
      </p:pic>
      <p:sp>
        <p:nvSpPr>
          <p:cNvPr id="6" name="TextBox 5">
            <a:extLst>
              <a:ext uri="{FF2B5EF4-FFF2-40B4-BE49-F238E27FC236}">
                <a16:creationId xmlns:a16="http://schemas.microsoft.com/office/drawing/2014/main" id="{7098D99A-F423-49CE-1A9A-F6911B36D3A9}"/>
              </a:ext>
            </a:extLst>
          </p:cNvPr>
          <p:cNvSpPr txBox="1"/>
          <p:nvPr/>
        </p:nvSpPr>
        <p:spPr>
          <a:xfrm>
            <a:off x="570322" y="701984"/>
            <a:ext cx="8847056" cy="584775"/>
          </a:xfrm>
          <a:prstGeom prst="rect">
            <a:avLst/>
          </a:prstGeom>
          <a:noFill/>
        </p:spPr>
        <p:txBody>
          <a:bodyPr wrap="square" rtlCol="0">
            <a:spAutoFit/>
          </a:bodyPr>
          <a:lstStyle/>
          <a:p>
            <a:r>
              <a:rPr lang="en-US" sz="1600" b="1" dirty="0"/>
              <a:t>2) Are there notable pricing differences between “Used” and “Certified/New” vehicles?</a:t>
            </a:r>
          </a:p>
          <a:p>
            <a:endParaRPr lang="en-US" sz="1600" b="1" dirty="0"/>
          </a:p>
        </p:txBody>
      </p:sp>
    </p:spTree>
    <p:extLst>
      <p:ext uri="{BB962C8B-B14F-4D97-AF65-F5344CB8AC3E}">
        <p14:creationId xmlns:p14="http://schemas.microsoft.com/office/powerpoint/2010/main" val="31839518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632DF-9430-4308-6AAC-F28DC5565240}"/>
            </a:ext>
          </a:extLst>
        </p:cNvPr>
        <p:cNvGrpSpPr/>
        <p:nvPr/>
      </p:nvGrpSpPr>
      <p:grpSpPr>
        <a:xfrm>
          <a:off x="0" y="0"/>
          <a:ext cx="0" cy="0"/>
          <a:chOff x="0" y="0"/>
          <a:chExt cx="0" cy="0"/>
        </a:xfrm>
      </p:grpSpPr>
      <p:sp>
        <p:nvSpPr>
          <p:cNvPr id="9" name="Callout: Double Bent Line with Accent Bar 8">
            <a:extLst>
              <a:ext uri="{FF2B5EF4-FFF2-40B4-BE49-F238E27FC236}">
                <a16:creationId xmlns:a16="http://schemas.microsoft.com/office/drawing/2014/main" id="{629BEB80-55EF-C89A-9DAF-7A11A8DF74C5}"/>
              </a:ext>
            </a:extLst>
          </p:cNvPr>
          <p:cNvSpPr/>
          <p:nvPr/>
        </p:nvSpPr>
        <p:spPr>
          <a:xfrm>
            <a:off x="5651371" y="1752141"/>
            <a:ext cx="3492629" cy="4300978"/>
          </a:xfrm>
          <a:prstGeom prst="accentCallout3">
            <a:avLst>
              <a:gd name="adj1" fmla="val 27057"/>
              <a:gd name="adj2" fmla="val 62"/>
              <a:gd name="adj3" fmla="val 28548"/>
              <a:gd name="adj4" fmla="val -3334"/>
              <a:gd name="adj5" fmla="val 98296"/>
              <a:gd name="adj6" fmla="val -14198"/>
              <a:gd name="adj7" fmla="val 72494"/>
              <a:gd name="adj8" fmla="val -37716"/>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ctr"/>
            <a:r>
              <a:rPr lang="en-US" b="1" u="sng" dirty="0">
                <a:solidFill>
                  <a:schemeClr val="tx1"/>
                </a:solidFill>
              </a:rPr>
              <a:t>Analysis:</a:t>
            </a:r>
          </a:p>
          <a:p>
            <a:pPr fontAlgn="ctr"/>
            <a:r>
              <a:rPr lang="en-US" dirty="0">
                <a:solidFill>
                  <a:schemeClr val="tx1"/>
                </a:solidFill>
              </a:rPr>
              <a:t>This Chart indicates that most cars that are newer in model, prices tends to be higher but as the cars start to get older the price starts to depreciate. Some models of cars such as the Nissan Rogue tend to not be in as much of demand therefore the price of the newer model is lower than the older model.</a:t>
            </a:r>
          </a:p>
          <a:p>
            <a:pPr fontAlgn="ctr"/>
            <a:r>
              <a:rPr lang="en-US" b="1" u="sng" dirty="0">
                <a:solidFill>
                  <a:schemeClr val="tx1"/>
                </a:solidFill>
              </a:rPr>
              <a:t>Recommendation:</a:t>
            </a:r>
          </a:p>
          <a:p>
            <a:pPr fontAlgn="ctr"/>
            <a:r>
              <a:rPr lang="en-US" dirty="0">
                <a:solidFill>
                  <a:schemeClr val="tx1"/>
                </a:solidFill>
              </a:rPr>
              <a:t>Center the buying niches with vehicles that have a great  performances as well as  price, and that indicate for a demand to accumulate the most earnings.</a:t>
            </a:r>
          </a:p>
        </p:txBody>
      </p:sp>
      <p:pic>
        <p:nvPicPr>
          <p:cNvPr id="2" name="Picture 1" descr="average_price_by_make_model_year.png">
            <a:extLst>
              <a:ext uri="{FF2B5EF4-FFF2-40B4-BE49-F238E27FC236}">
                <a16:creationId xmlns:a16="http://schemas.microsoft.com/office/drawing/2014/main" id="{67B9C204-2E64-925D-6114-AB66377EBB04}"/>
              </a:ext>
            </a:extLst>
          </p:cNvPr>
          <p:cNvPicPr>
            <a:picLocks noChangeAspect="1"/>
          </p:cNvPicPr>
          <p:nvPr/>
        </p:nvPicPr>
        <p:blipFill>
          <a:blip r:embed="rId2"/>
          <a:stretch>
            <a:fillRect/>
          </a:stretch>
        </p:blipFill>
        <p:spPr>
          <a:xfrm>
            <a:off x="207390" y="1752141"/>
            <a:ext cx="5263691" cy="4300977"/>
          </a:xfrm>
          <a:prstGeom prst="rect">
            <a:avLst/>
          </a:prstGeom>
        </p:spPr>
      </p:pic>
      <p:sp>
        <p:nvSpPr>
          <p:cNvPr id="5" name="TextBox 4">
            <a:extLst>
              <a:ext uri="{FF2B5EF4-FFF2-40B4-BE49-F238E27FC236}">
                <a16:creationId xmlns:a16="http://schemas.microsoft.com/office/drawing/2014/main" id="{21004EA9-B97F-1896-C765-B5FCCE06583B}"/>
              </a:ext>
            </a:extLst>
          </p:cNvPr>
          <p:cNvSpPr txBox="1"/>
          <p:nvPr/>
        </p:nvSpPr>
        <p:spPr>
          <a:xfrm>
            <a:off x="975674" y="804881"/>
            <a:ext cx="7192652" cy="813300"/>
          </a:xfrm>
          <a:prstGeom prst="rect">
            <a:avLst/>
          </a:prstGeom>
          <a:noFill/>
        </p:spPr>
        <p:txBody>
          <a:bodyPr wrap="square">
            <a:spAutoFit/>
          </a:bodyPr>
          <a:lstStyle/>
          <a:p>
            <a:pPr>
              <a:lnSpc>
                <a:spcPct val="115000"/>
              </a:lnSpc>
              <a:spcAft>
                <a:spcPts val="800"/>
              </a:spcAft>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3)</a:t>
            </a:r>
            <a:r>
              <a:rPr lang="en-US" b="1" dirty="0"/>
              <a:t> What is the relationship between a vehicle's model year and its price?</a:t>
            </a:r>
          </a:p>
          <a:p>
            <a:pPr marR="0" lvl="0">
              <a:lnSpc>
                <a:spcPct val="115000"/>
              </a:lnSpc>
              <a:spcAft>
                <a:spcPts val="800"/>
              </a:spcAft>
              <a:tabLst>
                <a:tab pos="457200" algn="l"/>
              </a:tabLst>
            </a:pP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1659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elationship_between_mileage and price.png"/>
          <p:cNvPicPr>
            <a:picLocks noChangeAspect="1"/>
          </p:cNvPicPr>
          <p:nvPr/>
        </p:nvPicPr>
        <p:blipFill>
          <a:blip r:embed="rId2"/>
          <a:stretch>
            <a:fillRect/>
          </a:stretch>
        </p:blipFill>
        <p:spPr>
          <a:xfrm>
            <a:off x="74688" y="1469776"/>
            <a:ext cx="5725761" cy="3967134"/>
          </a:xfrm>
          <a:prstGeom prst="rect">
            <a:avLst/>
          </a:prstGeom>
        </p:spPr>
      </p:pic>
      <p:sp>
        <p:nvSpPr>
          <p:cNvPr id="9" name="Callout: Double Bent Line with Accent Bar 8">
            <a:extLst>
              <a:ext uri="{FF2B5EF4-FFF2-40B4-BE49-F238E27FC236}">
                <a16:creationId xmlns:a16="http://schemas.microsoft.com/office/drawing/2014/main" id="{178B4641-0410-223E-7780-524D3C1850EA}"/>
              </a:ext>
            </a:extLst>
          </p:cNvPr>
          <p:cNvSpPr/>
          <p:nvPr/>
        </p:nvSpPr>
        <p:spPr>
          <a:xfrm>
            <a:off x="5960095" y="1687398"/>
            <a:ext cx="3049571" cy="3749512"/>
          </a:xfrm>
          <a:prstGeom prst="accentCallout3">
            <a:avLst>
              <a:gd name="adj1" fmla="val 27057"/>
              <a:gd name="adj2" fmla="val 62"/>
              <a:gd name="adj3" fmla="val 28548"/>
              <a:gd name="adj4" fmla="val -3334"/>
              <a:gd name="adj5" fmla="val 98296"/>
              <a:gd name="adj6" fmla="val -14198"/>
              <a:gd name="adj7" fmla="val 72494"/>
              <a:gd name="adj8" fmla="val -37716"/>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ctr"/>
            <a:r>
              <a:rPr lang="en-US" b="1" u="sng" dirty="0">
                <a:solidFill>
                  <a:schemeClr val="tx1"/>
                </a:solidFill>
              </a:rPr>
              <a:t>Analysis:</a:t>
            </a:r>
            <a:br>
              <a:rPr lang="en-US" dirty="0">
                <a:solidFill>
                  <a:schemeClr val="tx1"/>
                </a:solidFill>
              </a:rPr>
            </a:br>
            <a:r>
              <a:rPr lang="en-US" dirty="0">
                <a:solidFill>
                  <a:schemeClr val="tx1"/>
                </a:solidFill>
              </a:rPr>
              <a:t>This chart mostly  shows  that   majority of the cars  are in  the lower mileage range and  lower price range due to the fact that the  vehicle has  a bad condition report making the overall value depreciate significantly.</a:t>
            </a:r>
          </a:p>
          <a:p>
            <a:pPr fontAlgn="ctr"/>
            <a:r>
              <a:rPr lang="en-US" b="1" u="sng" dirty="0">
                <a:solidFill>
                  <a:schemeClr val="tx1"/>
                </a:solidFill>
              </a:rPr>
              <a:t>Recommendation:</a:t>
            </a:r>
            <a:r>
              <a:rPr lang="en-US" u="sng" dirty="0">
                <a:solidFill>
                  <a:schemeClr val="tx1"/>
                </a:solidFill>
              </a:rPr>
              <a:t> </a:t>
            </a:r>
          </a:p>
          <a:p>
            <a:pPr fontAlgn="ctr"/>
            <a:r>
              <a:rPr lang="en-US" dirty="0">
                <a:solidFill>
                  <a:schemeClr val="tx1"/>
                </a:solidFill>
              </a:rPr>
              <a:t>Focus on  refurbishing  efforts from low-mileage vehicles with poor reports to retrieve max bottom line.</a:t>
            </a:r>
          </a:p>
        </p:txBody>
      </p:sp>
      <p:sp>
        <p:nvSpPr>
          <p:cNvPr id="15" name="TextBox 14">
            <a:extLst>
              <a:ext uri="{FF2B5EF4-FFF2-40B4-BE49-F238E27FC236}">
                <a16:creationId xmlns:a16="http://schemas.microsoft.com/office/drawing/2014/main" id="{07790E29-7F7B-813F-4E3A-1B7344BC3366}"/>
              </a:ext>
            </a:extLst>
          </p:cNvPr>
          <p:cNvSpPr txBox="1"/>
          <p:nvPr/>
        </p:nvSpPr>
        <p:spPr>
          <a:xfrm>
            <a:off x="490195" y="793885"/>
            <a:ext cx="8257880" cy="675891"/>
          </a:xfrm>
          <a:prstGeom prst="rect">
            <a:avLst/>
          </a:prstGeom>
          <a:noFill/>
        </p:spPr>
        <p:txBody>
          <a:bodyPr wrap="square">
            <a:spAutoFit/>
          </a:bodyPr>
          <a:lstStyle/>
          <a:p>
            <a:pPr>
              <a:lnSpc>
                <a:spcPct val="115000"/>
              </a:lnSpc>
              <a:spcAft>
                <a:spcPts val="800"/>
              </a:spcAft>
              <a:tabLst>
                <a:tab pos="457200" algn="l"/>
              </a:tabLst>
            </a:pPr>
            <a:r>
              <a:rPr lang="en-US" sz="1400" b="1" dirty="0"/>
              <a:t>4)What is the relationship between mileage and price — do higher-mileage cars consistently sell for less?</a:t>
            </a:r>
          </a:p>
          <a:p>
            <a:pPr marR="0" lvl="0">
              <a:lnSpc>
                <a:spcPct val="115000"/>
              </a:lnSpc>
              <a:spcAft>
                <a:spcPts val="800"/>
              </a:spcAft>
              <a:tabLst>
                <a:tab pos="457200" algn="l"/>
              </a:tabLst>
            </a:pP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F1F1F"/>
                </a:solidFill>
                <a:latin typeface="Google Sans Text"/>
              </a:rPr>
              <a:t> </a:t>
            </a:r>
            <a:br>
              <a:rPr lang="en-US" b="1" dirty="0">
                <a:solidFill>
                  <a:srgbClr val="1F1F1F"/>
                </a:solidFill>
                <a:latin typeface="Google Sans Text"/>
              </a:rPr>
            </a:br>
            <a:br>
              <a:rPr lang="en-US" b="1" dirty="0">
                <a:solidFill>
                  <a:srgbClr val="1F1F1F"/>
                </a:solidFill>
                <a:latin typeface="Google Sans Text"/>
              </a:rPr>
            </a:br>
            <a:r>
              <a:rPr lang="en-US" b="1" dirty="0">
                <a:solidFill>
                  <a:srgbClr val="1F1F1F"/>
                </a:solidFill>
                <a:latin typeface="Google Sans Text"/>
              </a:rPr>
              <a:t>Future Work: Deepening the Analysis</a:t>
            </a:r>
            <a:br>
              <a:rPr lang="en-US" dirty="0">
                <a:solidFill>
                  <a:srgbClr val="1F1F1F"/>
                </a:solidFill>
                <a:latin typeface="Google Sans Text"/>
              </a:rPr>
            </a:br>
            <a:br>
              <a:rPr lang="en-US" dirty="0">
                <a:solidFill>
                  <a:srgbClr val="1F1F1F"/>
                </a:solidFill>
                <a:latin typeface="Google Sans Text"/>
              </a:rPr>
            </a:br>
            <a:endParaRPr dirty="0"/>
          </a:p>
        </p:txBody>
      </p:sp>
      <p:graphicFrame>
        <p:nvGraphicFramePr>
          <p:cNvPr id="12" name="Content Placeholder 11">
            <a:extLst>
              <a:ext uri="{FF2B5EF4-FFF2-40B4-BE49-F238E27FC236}">
                <a16:creationId xmlns:a16="http://schemas.microsoft.com/office/drawing/2014/main" id="{87F97A6D-4984-EDD6-BE44-7C5D3801AE3B}"/>
              </a:ext>
            </a:extLst>
          </p:cNvPr>
          <p:cNvGraphicFramePr>
            <a:graphicFrameLocks noGrp="1"/>
          </p:cNvGraphicFramePr>
          <p:nvPr>
            <p:ph idx="1"/>
            <p:extLst>
              <p:ext uri="{D42A27DB-BD31-4B8C-83A1-F6EECF244321}">
                <p14:modId xmlns:p14="http://schemas.microsoft.com/office/powerpoint/2010/main" val="2032764858"/>
              </p:ext>
            </p:extLst>
          </p:nvPr>
        </p:nvGraphicFramePr>
        <p:xfrm>
          <a:off x="1176338" y="2490788"/>
          <a:ext cx="6799262" cy="3444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marL="0" indent="0">
              <a:buNone/>
            </a:pPr>
            <a:r>
              <a:rPr lang="en-US" dirty="0"/>
              <a:t>Overall prioritizing the acquisition of 4-wheel and rear-wheel drive vehicles, while strategically focusing on newer model years and New/Certified conditions, will maximize the dealership's average vehicle revenue.</a:t>
            </a:r>
            <a:endParaRPr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4"/>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docProps/app.xml><?xml version="1.0" encoding="utf-8"?>
<Properties xmlns="http://schemas.openxmlformats.org/officeDocument/2006/extended-properties" xmlns:vt="http://schemas.openxmlformats.org/officeDocument/2006/docPropsVTypes">
  <Template>Organic</Template>
  <TotalTime>465</TotalTime>
  <Words>686</Words>
  <Application>Microsoft Office PowerPoint</Application>
  <PresentationFormat>On-screen Show (4:3)</PresentationFormat>
  <Paragraphs>55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Garamond</vt:lpstr>
      <vt:lpstr>Google Sans Text</vt:lpstr>
      <vt:lpstr>Organic</vt:lpstr>
      <vt:lpstr>Car Dealership  Data Analysis</vt:lpstr>
      <vt:lpstr>Introduction The Core Challenge: Maximizing Inventory Value</vt:lpstr>
      <vt:lpstr>Methodology &amp; Data Sources </vt:lpstr>
      <vt:lpstr>PowerPoint Presentation</vt:lpstr>
      <vt:lpstr>PowerPoint Presentation</vt:lpstr>
      <vt:lpstr>PowerPoint Presentation</vt:lpstr>
      <vt:lpstr>PowerPoint Presentation</vt:lpstr>
      <vt:lpstr>   Future Work: Deepening the Analysis  </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Humza Khalid</dc:creator>
  <cp:keywords/>
  <dc:description>generated using python-pptx</dc:description>
  <cp:lastModifiedBy>Humza Khalid</cp:lastModifiedBy>
  <cp:revision>5</cp:revision>
  <dcterms:created xsi:type="dcterms:W3CDTF">2013-01-27T09:14:16Z</dcterms:created>
  <dcterms:modified xsi:type="dcterms:W3CDTF">2025-12-13T00:42:53Z</dcterms:modified>
  <cp:category/>
</cp:coreProperties>
</file>